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9" r:id="rId13"/>
    <p:sldId id="268" r:id="rId14"/>
    <p:sldId id="270" r:id="rId15"/>
    <p:sldId id="272" r:id="rId16"/>
    <p:sldId id="271" r:id="rId17"/>
    <p:sldId id="273" r:id="rId18"/>
    <p:sldId id="274" r:id="rId19"/>
    <p:sldId id="275" r:id="rId20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35"/>
    <p:restoredTop sz="94692"/>
  </p:normalViewPr>
  <p:slideViewPr>
    <p:cSldViewPr snapToGrid="0">
      <p:cViewPr>
        <p:scale>
          <a:sx n="66" d="100"/>
          <a:sy n="66" d="100"/>
        </p:scale>
        <p:origin x="1184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645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7137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8003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0081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562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69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8136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9181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14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149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8437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AECA3-9554-6C4E-A320-43C4B3879FD8}" type="datetimeFigureOut">
              <a:rPr lang="es-ES" smtClean="0"/>
              <a:t>8/10/26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B4108-C33A-8C43-A8B6-DD0536DE86D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832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l.acm.org/doi/abs/10.1145/3544548.3580919" TargetMode="External"/><Relationship Id="rId4" Type="http://schemas.openxmlformats.org/officeDocument/2006/relationships/hyperlink" Target="https://educacion2.com/wp-content/uploads/2025/04/lee_2025_ai_critical_thinking_survey.pdf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s://doi.org/10.1073/pnas.2422633122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i.org/10.1177/1745691615569000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ature.com/articles/s41598-025-97652-6" TargetMode="External"/><Relationship Id="rId3" Type="http://schemas.openxmlformats.org/officeDocument/2006/relationships/image" Target="../media/image8.png"/><Relationship Id="rId7" Type="http://schemas.openxmlformats.org/officeDocument/2006/relationships/hyperlink" Target="https://dl.acm.org/doi/full/10.1145/3544548.3580919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larjonauta.substack.com/p/el-claustro-y-la-nave-espacial-universidad-ia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edificio, exterior, nieve, frente&#10;&#10;Descripción generada automáticamente">
            <a:extLst>
              <a:ext uri="{FF2B5EF4-FFF2-40B4-BE49-F238E27FC236}">
                <a16:creationId xmlns:a16="http://schemas.microsoft.com/office/drawing/2014/main" id="{21FFA601-08E2-137D-F0EB-AA8BD84087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290" b="15290"/>
          <a:stretch/>
        </p:blipFill>
        <p:spPr>
          <a:xfrm>
            <a:off x="-1" y="-18789"/>
            <a:ext cx="9906001" cy="687678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B488238-4D09-139C-14D0-B728129AE34E}"/>
              </a:ext>
            </a:extLst>
          </p:cNvPr>
          <p:cNvSpPr txBox="1"/>
          <p:nvPr/>
        </p:nvSpPr>
        <p:spPr>
          <a:xfrm>
            <a:off x="1418236" y="3999989"/>
            <a:ext cx="1584642" cy="763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b="1" dirty="0">
                <a:solidFill>
                  <a:schemeClr val="bg1"/>
                </a:solidFill>
              </a:rPr>
              <a:t>Pon aquí el nombre de tu IA favorita</a:t>
            </a:r>
          </a:p>
        </p:txBody>
      </p:sp>
      <p:sp>
        <p:nvSpPr>
          <p:cNvPr id="7" name="Forma libre 6">
            <a:extLst>
              <a:ext uri="{FF2B5EF4-FFF2-40B4-BE49-F238E27FC236}">
                <a16:creationId xmlns:a16="http://schemas.microsoft.com/office/drawing/2014/main" id="{95ADB7AC-2155-4924-6549-BEC21C280689}"/>
              </a:ext>
            </a:extLst>
          </p:cNvPr>
          <p:cNvSpPr/>
          <p:nvPr/>
        </p:nvSpPr>
        <p:spPr>
          <a:xfrm>
            <a:off x="2685951" y="4101374"/>
            <a:ext cx="605045" cy="157920"/>
          </a:xfrm>
          <a:custGeom>
            <a:avLst/>
            <a:gdLst>
              <a:gd name="connsiteX0" fmla="*/ 0 w 548640"/>
              <a:gd name="connsiteY0" fmla="*/ 12569 h 143198"/>
              <a:gd name="connsiteX1" fmla="*/ 339634 w 548640"/>
              <a:gd name="connsiteY1" fmla="*/ 12569 h 143198"/>
              <a:gd name="connsiteX2" fmla="*/ 548640 w 548640"/>
              <a:gd name="connsiteY2" fmla="*/ 143198 h 143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143198">
                <a:moveTo>
                  <a:pt x="0" y="12569"/>
                </a:moveTo>
                <a:cubicBezTo>
                  <a:pt x="124097" y="1683"/>
                  <a:pt x="248194" y="-9202"/>
                  <a:pt x="339634" y="12569"/>
                </a:cubicBezTo>
                <a:cubicBezTo>
                  <a:pt x="431074" y="34340"/>
                  <a:pt x="489857" y="88769"/>
                  <a:pt x="548640" y="143198"/>
                </a:cubicBezTo>
              </a:path>
            </a:pathLst>
          </a:custGeom>
          <a:noFill/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DC8AB05-A7E8-F85A-47E5-EB755852C288}"/>
              </a:ext>
            </a:extLst>
          </p:cNvPr>
          <p:cNvSpPr txBox="1"/>
          <p:nvPr/>
        </p:nvSpPr>
        <p:spPr>
          <a:xfrm>
            <a:off x="3343220" y="1491154"/>
            <a:ext cx="1373360" cy="763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b="1" dirty="0">
                <a:solidFill>
                  <a:schemeClr val="bg1"/>
                </a:solidFill>
              </a:rPr>
              <a:t>Aquí dentro está tu inteligencia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E1142D0-BC1C-5DB8-7D60-990E052C8C21}"/>
              </a:ext>
            </a:extLst>
          </p:cNvPr>
          <p:cNvSpPr txBox="1"/>
          <p:nvPr/>
        </p:nvSpPr>
        <p:spPr>
          <a:xfrm>
            <a:off x="2210557" y="308564"/>
            <a:ext cx="1584642" cy="543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b="1" dirty="0">
                <a:solidFill>
                  <a:schemeClr val="bg1"/>
                </a:solidFill>
              </a:rPr>
              <a:t>Tu pensamiento crítico</a:t>
            </a:r>
          </a:p>
        </p:txBody>
      </p:sp>
      <p:sp>
        <p:nvSpPr>
          <p:cNvPr id="10" name="Forma libre 9">
            <a:extLst>
              <a:ext uri="{FF2B5EF4-FFF2-40B4-BE49-F238E27FC236}">
                <a16:creationId xmlns:a16="http://schemas.microsoft.com/office/drawing/2014/main" id="{3BF782B7-7BA8-D325-AAE5-FC0E5CCCB493}"/>
              </a:ext>
            </a:extLst>
          </p:cNvPr>
          <p:cNvSpPr/>
          <p:nvPr/>
        </p:nvSpPr>
        <p:spPr>
          <a:xfrm>
            <a:off x="2934459" y="635857"/>
            <a:ext cx="817523" cy="157920"/>
          </a:xfrm>
          <a:custGeom>
            <a:avLst/>
            <a:gdLst>
              <a:gd name="connsiteX0" fmla="*/ 0 w 548640"/>
              <a:gd name="connsiteY0" fmla="*/ 12569 h 143198"/>
              <a:gd name="connsiteX1" fmla="*/ 339634 w 548640"/>
              <a:gd name="connsiteY1" fmla="*/ 12569 h 143198"/>
              <a:gd name="connsiteX2" fmla="*/ 548640 w 548640"/>
              <a:gd name="connsiteY2" fmla="*/ 143198 h 143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8640" h="143198">
                <a:moveTo>
                  <a:pt x="0" y="12569"/>
                </a:moveTo>
                <a:cubicBezTo>
                  <a:pt x="124097" y="1683"/>
                  <a:pt x="248194" y="-9202"/>
                  <a:pt x="339634" y="12569"/>
                </a:cubicBezTo>
                <a:cubicBezTo>
                  <a:pt x="431074" y="34340"/>
                  <a:pt x="489857" y="88769"/>
                  <a:pt x="548640" y="143198"/>
                </a:cubicBezTo>
              </a:path>
            </a:pathLst>
          </a:custGeom>
          <a:noFill/>
          <a:ln w="28575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Llamada ovalada 10">
            <a:extLst>
              <a:ext uri="{FF2B5EF4-FFF2-40B4-BE49-F238E27FC236}">
                <a16:creationId xmlns:a16="http://schemas.microsoft.com/office/drawing/2014/main" id="{1A82CA10-09FA-7D27-56C4-CE90D9B89402}"/>
              </a:ext>
            </a:extLst>
          </p:cNvPr>
          <p:cNvSpPr/>
          <p:nvPr/>
        </p:nvSpPr>
        <p:spPr>
          <a:xfrm>
            <a:off x="7004535" y="308564"/>
            <a:ext cx="1868690" cy="815566"/>
          </a:xfrm>
          <a:prstGeom prst="wedgeEllipseCallout">
            <a:avLst>
              <a:gd name="adj1" fmla="val -78829"/>
              <a:gd name="adj2" fmla="val -3781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FCDA75B-BD45-D037-0FDE-63F0E6B908C8}"/>
              </a:ext>
            </a:extLst>
          </p:cNvPr>
          <p:cNvSpPr txBox="1"/>
          <p:nvPr/>
        </p:nvSpPr>
        <p:spPr>
          <a:xfrm>
            <a:off x="7092171" y="444810"/>
            <a:ext cx="1584642" cy="543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b="1" dirty="0"/>
              <a:t>¿Eres amiga o enemiga?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9B3CBC2-A69D-EA0C-C121-DC3E90584960}"/>
              </a:ext>
            </a:extLst>
          </p:cNvPr>
          <p:cNvSpPr txBox="1"/>
          <p:nvPr/>
        </p:nvSpPr>
        <p:spPr>
          <a:xfrm>
            <a:off x="4485204" y="3429000"/>
            <a:ext cx="50386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solidFill>
                  <a:schemeClr val="bg1"/>
                </a:solidFill>
              </a:rPr>
              <a:t>Las IAS generativas para los estudiantes, ¿aliadas o enemigas el aprendizaje?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0837DE-DC38-8D2B-9FC5-3BAEC69CFC95}"/>
              </a:ext>
            </a:extLst>
          </p:cNvPr>
          <p:cNvSpPr txBox="1"/>
          <p:nvPr/>
        </p:nvSpPr>
        <p:spPr>
          <a:xfrm>
            <a:off x="13062" y="6374674"/>
            <a:ext cx="1843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err="1">
                <a:solidFill>
                  <a:schemeClr val="bg1"/>
                </a:solidFill>
              </a:rPr>
              <a:t>fjbonet@uco.es</a:t>
            </a:r>
            <a:endParaRPr lang="es-E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50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2C140F9-0F41-2E9A-E6AC-769AB93D1414}"/>
              </a:ext>
            </a:extLst>
          </p:cNvPr>
          <p:cNvSpPr txBox="1"/>
          <p:nvPr/>
        </p:nvSpPr>
        <p:spPr>
          <a:xfrm>
            <a:off x="1071154" y="1502229"/>
            <a:ext cx="521828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/>
              <a:t>Los Motivados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010D95-608A-1444-B899-36A764D4A51E}"/>
              </a:ext>
            </a:extLst>
          </p:cNvPr>
          <p:cNvSpPr txBox="1"/>
          <p:nvPr/>
        </p:nvSpPr>
        <p:spPr>
          <a:xfrm>
            <a:off x="1071154" y="2856412"/>
            <a:ext cx="724256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/>
              <a:t>La alianza “</a:t>
            </a:r>
            <a:r>
              <a:rPr lang="es-ES" sz="6000" b="1" dirty="0" err="1"/>
              <a:t>reverde</a:t>
            </a:r>
            <a:r>
              <a:rPr lang="es-ES" sz="6000" b="1" dirty="0"/>
              <a:t>”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B33D97C-8F33-1FB7-9911-686BE7584AE6}"/>
              </a:ext>
            </a:extLst>
          </p:cNvPr>
          <p:cNvSpPr txBox="1"/>
          <p:nvPr/>
        </p:nvSpPr>
        <p:spPr>
          <a:xfrm>
            <a:off x="1071154" y="4210595"/>
            <a:ext cx="54696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6000" b="1" dirty="0"/>
              <a:t>Los cautelosos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4340359-9EE5-ECF8-96EE-C2AC11D4FF02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766369-77AE-BF04-1B02-A8867FD448F8}"/>
              </a:ext>
            </a:extLst>
          </p:cNvPr>
          <p:cNvSpPr txBox="1"/>
          <p:nvPr/>
        </p:nvSpPr>
        <p:spPr>
          <a:xfrm>
            <a:off x="742834" y="146827"/>
            <a:ext cx="862864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dirty="0">
                <a:solidFill>
                  <a:schemeClr val="bg1"/>
                </a:solidFill>
              </a:rPr>
              <a:t>Actitud individual: ¿Cuál es tu posición respecto a las </a:t>
            </a:r>
            <a:r>
              <a:rPr lang="es-ES" sz="2500" b="1" dirty="0" err="1">
                <a:solidFill>
                  <a:schemeClr val="bg1"/>
                </a:solidFill>
              </a:rPr>
              <a:t>IAs</a:t>
            </a:r>
            <a:r>
              <a:rPr lang="es-ES" sz="2500" b="1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31342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3B8CB9C-2FDB-8730-597B-4A50EFBF021D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0E3BBB-0247-6B1E-EA34-60CE205E3087}"/>
              </a:ext>
            </a:extLst>
          </p:cNvPr>
          <p:cNvSpPr txBox="1"/>
          <p:nvPr/>
        </p:nvSpPr>
        <p:spPr>
          <a:xfrm>
            <a:off x="285635" y="146827"/>
            <a:ext cx="90219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dirty="0">
                <a:solidFill>
                  <a:schemeClr val="bg1"/>
                </a:solidFill>
              </a:rPr>
              <a:t>Actitud institucional: ¿Cuál es la posición de la Universidad?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FDAB59-1AE3-E1A4-CF05-3E4EBCCC6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2227" y="1048166"/>
            <a:ext cx="6221140" cy="5540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A503A4C-4746-7C37-96CE-B8D8947A572C}"/>
              </a:ext>
            </a:extLst>
          </p:cNvPr>
          <p:cNvSpPr txBox="1"/>
          <p:nvPr/>
        </p:nvSpPr>
        <p:spPr>
          <a:xfrm rot="1444322">
            <a:off x="5690406" y="5087098"/>
            <a:ext cx="179292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Reglamento UE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8E85DB-8908-EE2A-2EA8-14E23C1C7848}"/>
              </a:ext>
            </a:extLst>
          </p:cNvPr>
          <p:cNvSpPr txBox="1"/>
          <p:nvPr/>
        </p:nvSpPr>
        <p:spPr>
          <a:xfrm rot="841712">
            <a:off x="5343104" y="5457438"/>
            <a:ext cx="2061270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bg1"/>
                </a:solidFill>
              </a:rPr>
              <a:t>Directriz UNESCO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95D898-7411-CA56-1F31-ACDC7050B848}"/>
              </a:ext>
            </a:extLst>
          </p:cNvPr>
          <p:cNvSpPr txBox="1"/>
          <p:nvPr/>
        </p:nvSpPr>
        <p:spPr>
          <a:xfrm rot="20568701">
            <a:off x="4714873" y="2411714"/>
            <a:ext cx="515847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ES" b="1" dirty="0" err="1">
                <a:solidFill>
                  <a:schemeClr val="bg1"/>
                </a:solidFill>
              </a:rPr>
              <a:t>IAs</a:t>
            </a:r>
            <a:endParaRPr lang="es-E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81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D7C1E-1365-32D0-D7CA-9C524C71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2B81A85-416B-EFAE-B0DE-A6A99B4DFDAF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C6F67F-B9DE-A3D7-D4C6-0C13C325C40F}"/>
              </a:ext>
            </a:extLst>
          </p:cNvPr>
          <p:cNvSpPr txBox="1"/>
          <p:nvPr/>
        </p:nvSpPr>
        <p:spPr>
          <a:xfrm>
            <a:off x="285635" y="146827"/>
            <a:ext cx="610930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dirty="0">
                <a:solidFill>
                  <a:schemeClr val="bg1"/>
                </a:solidFill>
              </a:rPr>
              <a:t>Consecuencia de 1</a:t>
            </a:r>
            <a:r>
              <a:rPr lang="es-ES" sz="2500" b="1" baseline="30000" dirty="0">
                <a:solidFill>
                  <a:schemeClr val="bg1"/>
                </a:solidFill>
              </a:rPr>
              <a:t>er</a:t>
            </a:r>
            <a:r>
              <a:rPr lang="es-ES" sz="2500" b="1" dirty="0">
                <a:solidFill>
                  <a:schemeClr val="bg1"/>
                </a:solidFill>
              </a:rPr>
              <a:t> orden de los profes:</a:t>
            </a:r>
          </a:p>
        </p:txBody>
      </p:sp>
      <p:pic>
        <p:nvPicPr>
          <p:cNvPr id="4098" name="Picture 2" descr="You Shall Not Pass — Gandalf in powerful defensive stance with arms spread and staff raised with impact font text.">
            <a:extLst>
              <a:ext uri="{FF2B5EF4-FFF2-40B4-BE49-F238E27FC236}">
                <a16:creationId xmlns:a16="http://schemas.microsoft.com/office/drawing/2014/main" id="{CF370451-D565-C3E6-A5F9-868320723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59" y="1189945"/>
            <a:ext cx="8469086" cy="476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263C82E-EF87-CAF0-8DA4-7E6E53EA4C49}"/>
              </a:ext>
            </a:extLst>
          </p:cNvPr>
          <p:cNvSpPr txBox="1"/>
          <p:nvPr/>
        </p:nvSpPr>
        <p:spPr>
          <a:xfrm>
            <a:off x="6205945" y="144044"/>
            <a:ext cx="312528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Prohibir y restringir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5541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23C7-FCCB-A964-4522-9634421B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909333A3-C5E2-499F-EE38-B949BFE207B0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77E642-D1B7-5483-F4CF-6C8294A80737}"/>
              </a:ext>
            </a:extLst>
          </p:cNvPr>
          <p:cNvSpPr txBox="1"/>
          <p:nvPr/>
        </p:nvSpPr>
        <p:spPr>
          <a:xfrm>
            <a:off x="533832" y="146827"/>
            <a:ext cx="62506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dirty="0">
                <a:solidFill>
                  <a:schemeClr val="bg1"/>
                </a:solidFill>
              </a:rPr>
              <a:t>Consecuencia de 2</a:t>
            </a:r>
            <a:r>
              <a:rPr lang="es-ES" sz="2500" b="1" baseline="30000" dirty="0">
                <a:solidFill>
                  <a:schemeClr val="bg1"/>
                </a:solidFill>
              </a:rPr>
              <a:t>o</a:t>
            </a:r>
            <a:r>
              <a:rPr lang="es-ES" sz="2500" b="1" dirty="0">
                <a:solidFill>
                  <a:schemeClr val="bg1"/>
                </a:solidFill>
              </a:rPr>
              <a:t> orden del estudiante:</a:t>
            </a:r>
          </a:p>
        </p:txBody>
      </p:sp>
      <p:pic>
        <p:nvPicPr>
          <p:cNvPr id="6146" name="Picture 2" descr="emosido engañado pintada">
            <a:extLst>
              <a:ext uri="{FF2B5EF4-FFF2-40B4-BE49-F238E27FC236}">
                <a16:creationId xmlns:a16="http://schemas.microsoft.com/office/drawing/2014/main" id="{FF471B0C-DD0D-026D-AF6D-2CCBD70F7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1250950"/>
            <a:ext cx="8001000" cy="527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5C6A832-3084-259C-6142-7D81CAE23D5F}"/>
              </a:ext>
            </a:extLst>
          </p:cNvPr>
          <p:cNvSpPr txBox="1"/>
          <p:nvPr/>
        </p:nvSpPr>
        <p:spPr>
          <a:xfrm>
            <a:off x="6625702" y="141605"/>
            <a:ext cx="274646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Puertas traseras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8819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FBA52-79E7-3AED-11A8-B99843AB9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E69D63-FF11-6ACB-1CE9-DD460D2243EE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6E6155-47F6-30A6-0F92-03696C81714D}"/>
              </a:ext>
            </a:extLst>
          </p:cNvPr>
          <p:cNvSpPr txBox="1"/>
          <p:nvPr/>
        </p:nvSpPr>
        <p:spPr>
          <a:xfrm>
            <a:off x="533832" y="146827"/>
            <a:ext cx="297485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500" b="1" dirty="0">
                <a:solidFill>
                  <a:schemeClr val="bg1"/>
                </a:solidFill>
              </a:rPr>
              <a:t>Opción alternativa: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029CAA-6DC9-5566-AED1-CECC0A53F7AE}"/>
              </a:ext>
            </a:extLst>
          </p:cNvPr>
          <p:cNvSpPr txBox="1"/>
          <p:nvPr/>
        </p:nvSpPr>
        <p:spPr>
          <a:xfrm>
            <a:off x="3370217" y="141605"/>
            <a:ext cx="51136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S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Aprendamos juntos a usar la IA</a:t>
            </a:r>
            <a:endParaRPr lang="es-ES" dirty="0"/>
          </a:p>
        </p:txBody>
      </p:sp>
      <p:pic>
        <p:nvPicPr>
          <p:cNvPr id="4" name="Picture 2" descr="Este corredor es el Forrest Gump real y acaba de completar una carrera pica">
            <a:extLst>
              <a:ext uri="{FF2B5EF4-FFF2-40B4-BE49-F238E27FC236}">
                <a16:creationId xmlns:a16="http://schemas.microsoft.com/office/drawing/2014/main" id="{AFEB2075-A582-7719-79AF-F843105F4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9048"/>
            <a:ext cx="9906000" cy="557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B45B704D-2E11-D613-7586-5BC63615FCBE}"/>
              </a:ext>
            </a:extLst>
          </p:cNvPr>
          <p:cNvGrpSpPr/>
          <p:nvPr/>
        </p:nvGrpSpPr>
        <p:grpSpPr>
          <a:xfrm>
            <a:off x="3030583" y="1319348"/>
            <a:ext cx="2886891" cy="1802675"/>
            <a:chOff x="3030583" y="1319348"/>
            <a:chExt cx="2886891" cy="1802675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9507A40-CEB7-1884-3888-CD20A076F14C}"/>
                </a:ext>
              </a:extLst>
            </p:cNvPr>
            <p:cNvSpPr txBox="1"/>
            <p:nvPr/>
          </p:nvSpPr>
          <p:spPr>
            <a:xfrm>
              <a:off x="3030583" y="1319348"/>
              <a:ext cx="2886891" cy="92333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s-ES" b="1" dirty="0">
                  <a:solidFill>
                    <a:schemeClr val="bg1"/>
                  </a:solidFill>
                </a:rPr>
                <a:t>Yo, dos semanas después de probar </a:t>
              </a:r>
              <a:r>
                <a:rPr lang="es-ES" b="1" dirty="0" err="1">
                  <a:solidFill>
                    <a:schemeClr val="bg1"/>
                  </a:solidFill>
                </a:rPr>
                <a:t>ChatGPT</a:t>
              </a:r>
              <a:r>
                <a:rPr lang="es-ES" b="1" dirty="0">
                  <a:solidFill>
                    <a:schemeClr val="bg1"/>
                  </a:solidFill>
                </a:rPr>
                <a:t> por primera vez</a:t>
              </a:r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17F86BB8-94A1-D9D1-0896-6CB3170BA31A}"/>
                </a:ext>
              </a:extLst>
            </p:cNvPr>
            <p:cNvSpPr/>
            <p:nvPr/>
          </p:nvSpPr>
          <p:spPr>
            <a:xfrm>
              <a:off x="3265714" y="2246811"/>
              <a:ext cx="491371" cy="875212"/>
            </a:xfrm>
            <a:custGeom>
              <a:avLst/>
              <a:gdLst>
                <a:gd name="connsiteX0" fmla="*/ 457200 w 491371"/>
                <a:gd name="connsiteY0" fmla="*/ 0 h 875212"/>
                <a:gd name="connsiteX1" fmla="*/ 444137 w 491371"/>
                <a:gd name="connsiteY1" fmla="*/ 561703 h 875212"/>
                <a:gd name="connsiteX2" fmla="*/ 0 w 491371"/>
                <a:gd name="connsiteY2" fmla="*/ 875212 h 87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91371" h="875212">
                  <a:moveTo>
                    <a:pt x="457200" y="0"/>
                  </a:moveTo>
                  <a:cubicBezTo>
                    <a:pt x="488768" y="207917"/>
                    <a:pt x="520337" y="415834"/>
                    <a:pt x="444137" y="561703"/>
                  </a:cubicBezTo>
                  <a:cubicBezTo>
                    <a:pt x="367937" y="707572"/>
                    <a:pt x="183968" y="791392"/>
                    <a:pt x="0" y="875212"/>
                  </a:cubicBezTo>
                </a:path>
              </a:pathLst>
            </a:custGeom>
            <a:noFill/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AD5C85C-B1CD-1833-4ECA-6E8E5E4B7903}"/>
              </a:ext>
            </a:extLst>
          </p:cNvPr>
          <p:cNvGrpSpPr/>
          <p:nvPr/>
        </p:nvGrpSpPr>
        <p:grpSpPr>
          <a:xfrm>
            <a:off x="6087291" y="4480560"/>
            <a:ext cx="3304903" cy="1561557"/>
            <a:chOff x="6087291" y="4480560"/>
            <a:chExt cx="3304903" cy="1561557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43E9290-2BE2-0400-7F4D-B6A466BCC289}"/>
                </a:ext>
              </a:extLst>
            </p:cNvPr>
            <p:cNvSpPr txBox="1"/>
            <p:nvPr/>
          </p:nvSpPr>
          <p:spPr>
            <a:xfrm>
              <a:off x="6087291" y="5118787"/>
              <a:ext cx="3304903" cy="92333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s-ES" b="1" dirty="0">
                  <a:solidFill>
                    <a:schemeClr val="bg1"/>
                  </a:solidFill>
                </a:rPr>
                <a:t>Los alumnos que sufren mi optimismo suicida y creen que tengo respuestas …</a:t>
              </a:r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FB0300A5-A7AE-0E1D-3E16-FD294EE26AEA}"/>
                </a:ext>
              </a:extLst>
            </p:cNvPr>
            <p:cNvSpPr/>
            <p:nvPr/>
          </p:nvSpPr>
          <p:spPr>
            <a:xfrm>
              <a:off x="7850777" y="4480560"/>
              <a:ext cx="305371" cy="627017"/>
            </a:xfrm>
            <a:custGeom>
              <a:avLst/>
              <a:gdLst>
                <a:gd name="connsiteX0" fmla="*/ 287383 w 305371"/>
                <a:gd name="connsiteY0" fmla="*/ 627017 h 627017"/>
                <a:gd name="connsiteX1" fmla="*/ 274320 w 305371"/>
                <a:gd name="connsiteY1" fmla="*/ 235131 h 627017"/>
                <a:gd name="connsiteX2" fmla="*/ 0 w 305371"/>
                <a:gd name="connsiteY2" fmla="*/ 0 h 6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5371" h="627017">
                  <a:moveTo>
                    <a:pt x="287383" y="627017"/>
                  </a:moveTo>
                  <a:cubicBezTo>
                    <a:pt x="304800" y="483325"/>
                    <a:pt x="322217" y="339634"/>
                    <a:pt x="274320" y="235131"/>
                  </a:cubicBezTo>
                  <a:cubicBezTo>
                    <a:pt x="226423" y="130628"/>
                    <a:pt x="113211" y="65314"/>
                    <a:pt x="0" y="0"/>
                  </a:cubicBezTo>
                </a:path>
              </a:pathLst>
            </a:custGeom>
            <a:noFill/>
            <a:ln w="76200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95479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7627-75CF-D9EA-DD04-BB4D0469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EF87080-9130-DBD3-8D0F-0049BFD23A9E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EF0864-DE47-F0A0-FF49-606025D913D6}"/>
              </a:ext>
            </a:extLst>
          </p:cNvPr>
          <p:cNvSpPr txBox="1"/>
          <p:nvPr/>
        </p:nvSpPr>
        <p:spPr>
          <a:xfrm>
            <a:off x="403202" y="159890"/>
            <a:ext cx="885152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Aprendemos de la forma en la que abordamos nuestros errores…</a:t>
            </a:r>
          </a:p>
        </p:txBody>
      </p:sp>
      <p:pic>
        <p:nvPicPr>
          <p:cNvPr id="13" name="Imagen 12" descr="Texto&#10;&#10;Descripción generada automáticamente con confianza media">
            <a:extLst>
              <a:ext uri="{FF2B5EF4-FFF2-40B4-BE49-F238E27FC236}">
                <a16:creationId xmlns:a16="http://schemas.microsoft.com/office/drawing/2014/main" id="{4A4C9DF7-D400-72F7-AE81-22A51E366A0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24349" y="748924"/>
            <a:ext cx="6252553" cy="610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04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D5519-D66F-8495-FC38-12A52D16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6AC690A-18D4-5AAB-39BA-E5DEEDACEB75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42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0E08E51A-158F-AF5D-451E-5D98364550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0C0ECEA-1288-839C-689F-9F30FFBAE48C}"/>
              </a:ext>
            </a:extLst>
          </p:cNvPr>
          <p:cNvSpPr txBox="1"/>
          <p:nvPr/>
        </p:nvSpPr>
        <p:spPr>
          <a:xfrm>
            <a:off x="403202" y="159890"/>
            <a:ext cx="8851526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Aprendemos de la forma en la que abordamos nuestros errores…</a:t>
            </a:r>
          </a:p>
        </p:txBody>
      </p:sp>
    </p:spTree>
    <p:extLst>
      <p:ext uri="{BB962C8B-B14F-4D97-AF65-F5344CB8AC3E}">
        <p14:creationId xmlns:p14="http://schemas.microsoft.com/office/powerpoint/2010/main" val="9581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7257-3883-4AC2-992C-EFC00954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F5EDE4E-BA83-5BBE-93EC-3330A267A376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710C9A9-2387-A9C4-275A-7E11E2988A7A}"/>
              </a:ext>
            </a:extLst>
          </p:cNvPr>
          <p:cNvSpPr txBox="1"/>
          <p:nvPr/>
        </p:nvSpPr>
        <p:spPr>
          <a:xfrm>
            <a:off x="364013" y="133764"/>
            <a:ext cx="933108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1</a:t>
            </a:r>
            <a:r>
              <a:rPr lang="es-ES" sz="2300" b="1" baseline="30000" dirty="0">
                <a:solidFill>
                  <a:schemeClr val="bg1"/>
                </a:solidFill>
              </a:rPr>
              <a:t>er</a:t>
            </a:r>
            <a:r>
              <a:rPr lang="es-ES" sz="2300" b="1" dirty="0">
                <a:solidFill>
                  <a:schemeClr val="bg1"/>
                </a:solidFill>
              </a:rPr>
              <a:t> error: “lo que es bueno para mí, también lo es para mis alumnos”</a:t>
            </a:r>
          </a:p>
        </p:txBody>
      </p:sp>
      <p:pic>
        <p:nvPicPr>
          <p:cNvPr id="10242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49D4A0D0-F080-5222-AC95-CF9A0D5F0E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lamada ovalada 3">
            <a:extLst>
              <a:ext uri="{FF2B5EF4-FFF2-40B4-BE49-F238E27FC236}">
                <a16:creationId xmlns:a16="http://schemas.microsoft.com/office/drawing/2014/main" id="{48690459-9CF3-0C68-457B-4A36C3796F01}"/>
              </a:ext>
            </a:extLst>
          </p:cNvPr>
          <p:cNvSpPr/>
          <p:nvPr/>
        </p:nvSpPr>
        <p:spPr>
          <a:xfrm>
            <a:off x="364013" y="903332"/>
            <a:ext cx="6230983" cy="5199017"/>
          </a:xfrm>
          <a:prstGeom prst="wedgeEllipseCallout">
            <a:avLst>
              <a:gd name="adj1" fmla="val 56940"/>
              <a:gd name="adj2" fmla="val -2182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300" b="1" dirty="0">
                <a:solidFill>
                  <a:schemeClr val="tx1"/>
                </a:solidFill>
              </a:rPr>
              <a:t>Las </a:t>
            </a:r>
            <a:r>
              <a:rPr lang="es-ES" sz="2300" b="1" dirty="0" err="1">
                <a:solidFill>
                  <a:schemeClr val="tx1"/>
                </a:solidFill>
              </a:rPr>
              <a:t>IAs</a:t>
            </a:r>
            <a:r>
              <a:rPr lang="es-ES" sz="2300" b="1" dirty="0">
                <a:solidFill>
                  <a:schemeClr val="tx1"/>
                </a:solidFill>
              </a:rPr>
              <a:t> han revolucionado para bien la forma en la que trabajo y, sobre todo, cómo aprendo.</a:t>
            </a:r>
          </a:p>
          <a:p>
            <a:pPr algn="ctr"/>
            <a:endParaRPr lang="es-ES" sz="2300" b="1" dirty="0">
              <a:solidFill>
                <a:schemeClr val="tx1"/>
              </a:solidFill>
            </a:endParaRPr>
          </a:p>
          <a:p>
            <a:pPr algn="ctr"/>
            <a:r>
              <a:rPr lang="es-ES" sz="2300" b="1" dirty="0">
                <a:solidFill>
                  <a:schemeClr val="tx1"/>
                </a:solidFill>
              </a:rPr>
              <a:t>Tengo a mi alcance una herramienta con la que puedo aprender lo que quiera porque me acompaña en el proceso.</a:t>
            </a:r>
          </a:p>
          <a:p>
            <a:pPr algn="ctr"/>
            <a:endParaRPr lang="es-ES" sz="23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88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16E6-925B-95AA-652C-B8B4CFA9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FCBF898-7211-6142-66D3-F7F0312E1535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FB74DFC-EAA1-853F-88BF-2FE9F5ECE73D}"/>
              </a:ext>
            </a:extLst>
          </p:cNvPr>
          <p:cNvSpPr txBox="1"/>
          <p:nvPr/>
        </p:nvSpPr>
        <p:spPr>
          <a:xfrm>
            <a:off x="364013" y="133764"/>
            <a:ext cx="933108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1</a:t>
            </a:r>
            <a:r>
              <a:rPr lang="es-ES" sz="2300" b="1" baseline="30000" dirty="0">
                <a:solidFill>
                  <a:schemeClr val="bg1"/>
                </a:solidFill>
              </a:rPr>
              <a:t>er</a:t>
            </a:r>
            <a:r>
              <a:rPr lang="es-ES" sz="2300" b="1" dirty="0">
                <a:solidFill>
                  <a:schemeClr val="bg1"/>
                </a:solidFill>
              </a:rPr>
              <a:t> error: “lo que es bueno para mí, también lo es para mis alumnos”</a:t>
            </a:r>
          </a:p>
        </p:txBody>
      </p:sp>
      <p:pic>
        <p:nvPicPr>
          <p:cNvPr id="10242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0E070D74-BA47-4F08-9C5F-A1184C36BF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Llamada ovalada 3">
            <a:extLst>
              <a:ext uri="{FF2B5EF4-FFF2-40B4-BE49-F238E27FC236}">
                <a16:creationId xmlns:a16="http://schemas.microsoft.com/office/drawing/2014/main" id="{684CFF04-71D1-0860-4DBB-75A6933BBA85}"/>
              </a:ext>
            </a:extLst>
          </p:cNvPr>
          <p:cNvSpPr/>
          <p:nvPr/>
        </p:nvSpPr>
        <p:spPr>
          <a:xfrm>
            <a:off x="364013" y="903332"/>
            <a:ext cx="6445349" cy="5199017"/>
          </a:xfrm>
          <a:prstGeom prst="wedgeEllipseCallout">
            <a:avLst>
              <a:gd name="adj1" fmla="val 56940"/>
              <a:gd name="adj2" fmla="val -2182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300" b="1" dirty="0">
                <a:solidFill>
                  <a:schemeClr val="tx1"/>
                </a:solidFill>
              </a:rPr>
              <a:t>Cuando pedía a mis alumnos que usaran las </a:t>
            </a:r>
            <a:r>
              <a:rPr lang="es-ES" sz="2300" b="1" dirty="0" err="1">
                <a:solidFill>
                  <a:schemeClr val="tx1"/>
                </a:solidFill>
              </a:rPr>
              <a:t>IAs</a:t>
            </a:r>
            <a:r>
              <a:rPr lang="es-ES" sz="2300" b="1" dirty="0">
                <a:solidFill>
                  <a:schemeClr val="tx1"/>
                </a:solidFill>
              </a:rPr>
              <a:t> como lo hacía yo, pasaban cosas:</a:t>
            </a:r>
          </a:p>
          <a:p>
            <a:pPr algn="ctr"/>
            <a:endParaRPr lang="es-ES" sz="2300" b="1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b="1" dirty="0">
                <a:solidFill>
                  <a:schemeClr val="tx1"/>
                </a:solidFill>
              </a:rPr>
              <a:t>Traslado directo de preguntas a la 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b="1" dirty="0">
                <a:solidFill>
                  <a:schemeClr val="tx1"/>
                </a:solidFill>
              </a:rPr>
              <a:t>No repregunta.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b="1" dirty="0">
                <a:solidFill>
                  <a:schemeClr val="tx1"/>
                </a:solidFill>
              </a:rPr>
              <a:t>No cuestionamiento de la respuesta.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b="1" dirty="0">
                <a:solidFill>
                  <a:schemeClr val="tx1"/>
                </a:solidFill>
              </a:rPr>
              <a:t>Copia-pega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300" b="1" dirty="0">
                <a:solidFill>
                  <a:schemeClr val="tx1"/>
                </a:solidFill>
              </a:rPr>
              <a:t>Bajo aprendizaje</a:t>
            </a:r>
          </a:p>
        </p:txBody>
      </p:sp>
    </p:spTree>
    <p:extLst>
      <p:ext uri="{BB962C8B-B14F-4D97-AF65-F5344CB8AC3E}">
        <p14:creationId xmlns:p14="http://schemas.microsoft.com/office/powerpoint/2010/main" val="38187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80FBC-611E-98CB-FCED-B7141FF5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FB7E6205-68B1-93BA-48A4-3724ADEDE42E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A299263-0187-0A86-BF39-BC3ACB9374E3}"/>
              </a:ext>
            </a:extLst>
          </p:cNvPr>
          <p:cNvSpPr txBox="1"/>
          <p:nvPr/>
        </p:nvSpPr>
        <p:spPr>
          <a:xfrm>
            <a:off x="364013" y="133764"/>
            <a:ext cx="933108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1</a:t>
            </a:r>
            <a:r>
              <a:rPr lang="es-ES" sz="2300" b="1" baseline="30000" dirty="0">
                <a:solidFill>
                  <a:schemeClr val="bg1"/>
                </a:solidFill>
              </a:rPr>
              <a:t>er</a:t>
            </a:r>
            <a:r>
              <a:rPr lang="es-ES" sz="2300" b="1" dirty="0">
                <a:solidFill>
                  <a:schemeClr val="bg1"/>
                </a:solidFill>
              </a:rPr>
              <a:t> error: “lo que es bueno para mí, también lo es para mis alumnos”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2533F0E2-12FE-299C-65B1-0D47FF36A3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D032B15E-28E1-F94C-245A-70E33B3C862A}"/>
              </a:ext>
            </a:extLst>
          </p:cNvPr>
          <p:cNvSpPr/>
          <p:nvPr/>
        </p:nvSpPr>
        <p:spPr>
          <a:xfrm>
            <a:off x="364013" y="903332"/>
            <a:ext cx="6230983" cy="5484405"/>
          </a:xfrm>
          <a:prstGeom prst="wedgeEllipseCallout">
            <a:avLst>
              <a:gd name="adj1" fmla="val 56940"/>
              <a:gd name="adj2" fmla="val -2182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300" b="1" dirty="0">
              <a:solidFill>
                <a:schemeClr val="tx1"/>
              </a:solidFill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B3B32DEE-4598-30CE-0B29-CFFCFA760E09}"/>
              </a:ext>
            </a:extLst>
          </p:cNvPr>
          <p:cNvGrpSpPr/>
          <p:nvPr/>
        </p:nvGrpSpPr>
        <p:grpSpPr>
          <a:xfrm>
            <a:off x="1003729" y="2034667"/>
            <a:ext cx="1421609" cy="695470"/>
            <a:chOff x="1003729" y="2034667"/>
            <a:chExt cx="1421609" cy="695470"/>
          </a:xfrm>
        </p:grpSpPr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DBC292CC-F8BE-358B-7CA3-EAF43BCE2B48}"/>
                </a:ext>
              </a:extLst>
            </p:cNvPr>
            <p:cNvSpPr txBox="1"/>
            <p:nvPr/>
          </p:nvSpPr>
          <p:spPr>
            <a:xfrm flipH="1">
              <a:off x="1003729" y="2084697"/>
              <a:ext cx="8636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000" b="1" dirty="0"/>
                <a:t>IA</a:t>
              </a:r>
            </a:p>
          </p:txBody>
        </p:sp>
        <p:sp>
          <p:nvSpPr>
            <p:cNvPr id="41" name="Forma libre 40">
              <a:extLst>
                <a:ext uri="{FF2B5EF4-FFF2-40B4-BE49-F238E27FC236}">
                  <a16:creationId xmlns:a16="http://schemas.microsoft.com/office/drawing/2014/main" id="{F1AD1C77-05A2-2D39-A998-7786D8E55A08}"/>
                </a:ext>
              </a:extLst>
            </p:cNvPr>
            <p:cNvSpPr/>
            <p:nvPr/>
          </p:nvSpPr>
          <p:spPr>
            <a:xfrm>
              <a:off x="1711234" y="2364377"/>
              <a:ext cx="444137" cy="365760"/>
            </a:xfrm>
            <a:custGeom>
              <a:avLst/>
              <a:gdLst>
                <a:gd name="connsiteX0" fmla="*/ 0 w 444137"/>
                <a:gd name="connsiteY0" fmla="*/ 0 h 365760"/>
                <a:gd name="connsiteX1" fmla="*/ 313508 w 444137"/>
                <a:gd name="connsiteY1" fmla="*/ 156754 h 365760"/>
                <a:gd name="connsiteX2" fmla="*/ 444137 w 444137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4137" h="365760">
                  <a:moveTo>
                    <a:pt x="0" y="0"/>
                  </a:moveTo>
                  <a:cubicBezTo>
                    <a:pt x="119742" y="47897"/>
                    <a:pt x="239485" y="95794"/>
                    <a:pt x="313508" y="156754"/>
                  </a:cubicBezTo>
                  <a:cubicBezTo>
                    <a:pt x="387531" y="217714"/>
                    <a:pt x="415834" y="291737"/>
                    <a:pt x="444137" y="365760"/>
                  </a:cubicBezTo>
                </a:path>
              </a:pathLst>
            </a:custGeom>
            <a:noFill/>
            <a:ln w="4445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DA7EB3A8-FEA4-16B5-50B7-5F5BA5DD9A07}"/>
                </a:ext>
              </a:extLst>
            </p:cNvPr>
            <p:cNvSpPr txBox="1"/>
            <p:nvPr/>
          </p:nvSpPr>
          <p:spPr>
            <a:xfrm>
              <a:off x="1625204" y="203466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+</a:t>
              </a:r>
            </a:p>
          </p:txBody>
        </p:sp>
        <p:sp>
          <p:nvSpPr>
            <p:cNvPr id="43" name="CuadroTexto 42">
              <a:extLst>
                <a:ext uri="{FF2B5EF4-FFF2-40B4-BE49-F238E27FC236}">
                  <a16:creationId xmlns:a16="http://schemas.microsoft.com/office/drawing/2014/main" id="{BF4A2E91-882A-1DFF-20A7-F8ECD44164C9}"/>
                </a:ext>
              </a:extLst>
            </p:cNvPr>
            <p:cNvSpPr txBox="1"/>
            <p:nvPr/>
          </p:nvSpPr>
          <p:spPr>
            <a:xfrm>
              <a:off x="2117240" y="231769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+</a:t>
              </a: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FEA75C8-5E30-2663-B751-2946CA811E20}"/>
              </a:ext>
            </a:extLst>
          </p:cNvPr>
          <p:cNvGrpSpPr/>
          <p:nvPr/>
        </p:nvGrpSpPr>
        <p:grpSpPr>
          <a:xfrm>
            <a:off x="3407289" y="1976275"/>
            <a:ext cx="1345681" cy="695470"/>
            <a:chOff x="3407289" y="1976275"/>
            <a:chExt cx="1345681" cy="695470"/>
          </a:xfrm>
        </p:grpSpPr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3FAC2A5-9C4E-C894-B022-67C4AE489C8D}"/>
                </a:ext>
              </a:extLst>
            </p:cNvPr>
            <p:cNvSpPr txBox="1"/>
            <p:nvPr/>
          </p:nvSpPr>
          <p:spPr>
            <a:xfrm flipH="1">
              <a:off x="3407289" y="2071634"/>
              <a:ext cx="86369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000" b="1" dirty="0"/>
                <a:t>IA</a:t>
              </a:r>
            </a:p>
          </p:txBody>
        </p:sp>
        <p:sp>
          <p:nvSpPr>
            <p:cNvPr id="44" name="Forma libre 43">
              <a:extLst>
                <a:ext uri="{FF2B5EF4-FFF2-40B4-BE49-F238E27FC236}">
                  <a16:creationId xmlns:a16="http://schemas.microsoft.com/office/drawing/2014/main" id="{E1C73423-567D-7831-A62B-B7E2C5160083}"/>
                </a:ext>
              </a:extLst>
            </p:cNvPr>
            <p:cNvSpPr/>
            <p:nvPr/>
          </p:nvSpPr>
          <p:spPr>
            <a:xfrm>
              <a:off x="4083750" y="2305985"/>
              <a:ext cx="444137" cy="365760"/>
            </a:xfrm>
            <a:custGeom>
              <a:avLst/>
              <a:gdLst>
                <a:gd name="connsiteX0" fmla="*/ 0 w 444137"/>
                <a:gd name="connsiteY0" fmla="*/ 0 h 365760"/>
                <a:gd name="connsiteX1" fmla="*/ 313508 w 444137"/>
                <a:gd name="connsiteY1" fmla="*/ 156754 h 365760"/>
                <a:gd name="connsiteX2" fmla="*/ 444137 w 444137"/>
                <a:gd name="connsiteY2" fmla="*/ 365760 h 365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4137" h="365760">
                  <a:moveTo>
                    <a:pt x="0" y="0"/>
                  </a:moveTo>
                  <a:cubicBezTo>
                    <a:pt x="119742" y="47897"/>
                    <a:pt x="239485" y="95794"/>
                    <a:pt x="313508" y="156754"/>
                  </a:cubicBezTo>
                  <a:cubicBezTo>
                    <a:pt x="387531" y="217714"/>
                    <a:pt x="415834" y="291737"/>
                    <a:pt x="444137" y="365760"/>
                  </a:cubicBezTo>
                </a:path>
              </a:pathLst>
            </a:custGeom>
            <a:noFill/>
            <a:ln w="44450"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26A202B7-EDF9-2E8D-3436-62AC020B82DA}"/>
                </a:ext>
              </a:extLst>
            </p:cNvPr>
            <p:cNvSpPr txBox="1"/>
            <p:nvPr/>
          </p:nvSpPr>
          <p:spPr>
            <a:xfrm>
              <a:off x="3997720" y="1976275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+</a:t>
              </a: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ABEEFF88-9C53-5A42-9C67-6F97E712A576}"/>
                </a:ext>
              </a:extLst>
            </p:cNvPr>
            <p:cNvSpPr txBox="1"/>
            <p:nvPr/>
          </p:nvSpPr>
          <p:spPr>
            <a:xfrm>
              <a:off x="4489756" y="2259305"/>
              <a:ext cx="263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-</a:t>
              </a:r>
            </a:p>
          </p:txBody>
        </p:sp>
      </p:grp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C41253A-34B5-193D-48E8-66424EB59E1C}"/>
              </a:ext>
            </a:extLst>
          </p:cNvPr>
          <p:cNvSpPr txBox="1"/>
          <p:nvPr/>
        </p:nvSpPr>
        <p:spPr>
          <a:xfrm>
            <a:off x="4361732" y="2137932"/>
            <a:ext cx="1836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/>
              <a:t>Descarga cognitiva</a:t>
            </a: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21967C69-C851-573D-C400-96C402E43DF4}"/>
              </a:ext>
            </a:extLst>
          </p:cNvPr>
          <p:cNvGrpSpPr/>
          <p:nvPr/>
        </p:nvGrpSpPr>
        <p:grpSpPr>
          <a:xfrm>
            <a:off x="1304875" y="2709722"/>
            <a:ext cx="2063458" cy="2832288"/>
            <a:chOff x="1304875" y="2709722"/>
            <a:chExt cx="2063458" cy="2832288"/>
          </a:xfrm>
        </p:grpSpPr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D9666759-84BA-75DE-06A9-6624DCC68A84}"/>
                </a:ext>
              </a:extLst>
            </p:cNvPr>
            <p:cNvSpPr txBox="1"/>
            <p:nvPr/>
          </p:nvSpPr>
          <p:spPr>
            <a:xfrm>
              <a:off x="1434127" y="5207890"/>
              <a:ext cx="1429912" cy="33412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Experta</a:t>
              </a:r>
            </a:p>
          </p:txBody>
        </p:sp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632D8A94-6137-F441-6D8B-6734668A3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314" t="12068" r="51114"/>
            <a:stretch/>
          </p:blipFill>
          <p:spPr>
            <a:xfrm>
              <a:off x="1304875" y="2709722"/>
              <a:ext cx="2063458" cy="2498168"/>
            </a:xfrm>
            <a:prstGeom prst="rect">
              <a:avLst/>
            </a:prstGeom>
          </p:spPr>
        </p:pic>
      </p:grpSp>
      <p:grpSp>
        <p:nvGrpSpPr>
          <p:cNvPr id="51" name="Grupo 50">
            <a:extLst>
              <a:ext uri="{FF2B5EF4-FFF2-40B4-BE49-F238E27FC236}">
                <a16:creationId xmlns:a16="http://schemas.microsoft.com/office/drawing/2014/main" id="{C427292B-7CF6-A6C3-6959-315D6AF2FE11}"/>
              </a:ext>
            </a:extLst>
          </p:cNvPr>
          <p:cNvGrpSpPr/>
          <p:nvPr/>
        </p:nvGrpSpPr>
        <p:grpSpPr>
          <a:xfrm>
            <a:off x="3878546" y="2836518"/>
            <a:ext cx="1856762" cy="2705492"/>
            <a:chOff x="3878546" y="2836518"/>
            <a:chExt cx="1856762" cy="2705492"/>
          </a:xfrm>
        </p:grpSpPr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6B31F1B3-0F7C-0F77-FF9C-474A1E5DC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5081" t="15148" r="8817"/>
            <a:stretch/>
          </p:blipFill>
          <p:spPr>
            <a:xfrm flipH="1">
              <a:off x="3899195" y="2836518"/>
              <a:ext cx="1836113" cy="2410687"/>
            </a:xfrm>
            <a:prstGeom prst="rect">
              <a:avLst/>
            </a:prstGeom>
          </p:spPr>
        </p:pic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45582472-229A-B2EC-29F7-54BB898EFEC6}"/>
                </a:ext>
              </a:extLst>
            </p:cNvPr>
            <p:cNvSpPr txBox="1"/>
            <p:nvPr/>
          </p:nvSpPr>
          <p:spPr>
            <a:xfrm>
              <a:off x="3878546" y="5207890"/>
              <a:ext cx="1181745" cy="33412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>
                  <a:solidFill>
                    <a:schemeClr val="bg1"/>
                  </a:solidFill>
                </a:rPr>
                <a:t>Aprendiz</a:t>
              </a:r>
            </a:p>
          </p:txBody>
        </p:sp>
      </p:grpSp>
      <p:sp>
        <p:nvSpPr>
          <p:cNvPr id="54" name="CuadroTexto 53">
            <a:extLst>
              <a:ext uri="{FF2B5EF4-FFF2-40B4-BE49-F238E27FC236}">
                <a16:creationId xmlns:a16="http://schemas.microsoft.com/office/drawing/2014/main" id="{1C041BE8-EAB2-8E2D-2C90-05F93062A3CF}"/>
              </a:ext>
            </a:extLst>
          </p:cNvPr>
          <p:cNvSpPr txBox="1"/>
          <p:nvPr/>
        </p:nvSpPr>
        <p:spPr>
          <a:xfrm>
            <a:off x="1507577" y="166241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Superpoder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8DD3476-E4D5-73CC-167D-FA3D0F60FF6A}"/>
              </a:ext>
            </a:extLst>
          </p:cNvPr>
          <p:cNvSpPr txBox="1"/>
          <p:nvPr/>
        </p:nvSpPr>
        <p:spPr>
          <a:xfrm>
            <a:off x="4198526" y="1662412"/>
            <a:ext cx="91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/>
              <a:t>Muleta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D8114DE3-58AF-6171-F3DC-B660F86097F1}"/>
              </a:ext>
            </a:extLst>
          </p:cNvPr>
          <p:cNvSpPr txBox="1"/>
          <p:nvPr/>
        </p:nvSpPr>
        <p:spPr>
          <a:xfrm>
            <a:off x="2935153" y="5794853"/>
            <a:ext cx="110940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0" i="0" dirty="0">
                <a:solidFill>
                  <a:srgbClr val="4183C4"/>
                </a:solidFill>
                <a:effectLst/>
                <a:latin typeface="Open Sans" panose="020F0502020204030204" pitchFamily="34" charset="0"/>
                <a:hlinkClick r:id="rId4"/>
              </a:rPr>
              <a:t>Lee et al., 2025</a:t>
            </a:r>
            <a:endParaRPr lang="es-ES" sz="1000" dirty="0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68D537C9-3049-B636-47B1-939340133151}"/>
              </a:ext>
            </a:extLst>
          </p:cNvPr>
          <p:cNvSpPr txBox="1"/>
          <p:nvPr/>
        </p:nvSpPr>
        <p:spPr>
          <a:xfrm>
            <a:off x="2710070" y="6006237"/>
            <a:ext cx="1778628" cy="244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0" i="0" dirty="0">
                <a:solidFill>
                  <a:srgbClr val="4183C4"/>
                </a:solidFill>
                <a:effectLst/>
                <a:latin typeface="Open Sans" panose="020B0606030504020204" pitchFamily="34" charset="0"/>
                <a:hlinkClick r:id="rId5"/>
              </a:rPr>
              <a:t>Kazemitabaar et al., 2023</a:t>
            </a:r>
            <a:endParaRPr lang="es-ES" sz="1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AE10BB8-CE24-415B-562A-D29728021DE5}"/>
              </a:ext>
            </a:extLst>
          </p:cNvPr>
          <p:cNvSpPr txBox="1"/>
          <p:nvPr/>
        </p:nvSpPr>
        <p:spPr>
          <a:xfrm>
            <a:off x="2318369" y="1109382"/>
            <a:ext cx="2177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¿Por qué pasa esto?</a:t>
            </a:r>
          </a:p>
        </p:txBody>
      </p:sp>
    </p:spTree>
    <p:extLst>
      <p:ext uri="{BB962C8B-B14F-4D97-AF65-F5344CB8AC3E}">
        <p14:creationId xmlns:p14="http://schemas.microsoft.com/office/powerpoint/2010/main" val="3067052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7" grpId="0"/>
      <p:bldP spid="54" grpId="0"/>
      <p:bldP spid="55" grpId="0"/>
      <p:bldP spid="56" grpId="0"/>
      <p:bldP spid="57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4CC28-03C1-CA74-122A-E1051390B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FA3D2FE7-8B38-C69E-3610-BD3E455B9AF9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C560262-35D2-D413-C436-A6E4C193A9CA}"/>
              </a:ext>
            </a:extLst>
          </p:cNvPr>
          <p:cNvSpPr txBox="1"/>
          <p:nvPr/>
        </p:nvSpPr>
        <p:spPr>
          <a:xfrm>
            <a:off x="364013" y="133764"/>
            <a:ext cx="685758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2</a:t>
            </a:r>
            <a:r>
              <a:rPr lang="es-ES" sz="2300" b="1" baseline="30000" dirty="0">
                <a:solidFill>
                  <a:schemeClr val="bg1"/>
                </a:solidFill>
              </a:rPr>
              <a:t>o</a:t>
            </a:r>
            <a:r>
              <a:rPr lang="es-ES" sz="2300" b="1" dirty="0">
                <a:solidFill>
                  <a:schemeClr val="bg1"/>
                </a:solidFill>
              </a:rPr>
              <a:t> error: “si el resultado está bien, han aprendido”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96B8225E-2FFE-760A-867D-A6FBF89003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ACA248B8-E128-65DB-6577-71B1AF8308E2}"/>
              </a:ext>
            </a:extLst>
          </p:cNvPr>
          <p:cNvSpPr/>
          <p:nvPr/>
        </p:nvSpPr>
        <p:spPr>
          <a:xfrm>
            <a:off x="-138545" y="770709"/>
            <a:ext cx="7048392" cy="5762066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300" b="1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B306640-E88D-0498-4921-BD43F302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081" t="17516" r="10021"/>
          <a:stretch/>
        </p:blipFill>
        <p:spPr>
          <a:xfrm flipH="1">
            <a:off x="705254" y="2866081"/>
            <a:ext cx="1180711" cy="15589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D25A9C-D58A-20D6-5915-D1E685C9EC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591" t="12058" r="5033"/>
          <a:stretch/>
        </p:blipFill>
        <p:spPr>
          <a:xfrm flipH="1">
            <a:off x="4587620" y="1636792"/>
            <a:ext cx="1285416" cy="1603672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6A25330-67C6-A420-A212-001D926381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273" t="11395" r="2800" b="6853"/>
          <a:stretch/>
        </p:blipFill>
        <p:spPr>
          <a:xfrm>
            <a:off x="3112936" y="3114490"/>
            <a:ext cx="1085156" cy="112813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10ED3BFE-495A-39C4-7C06-FACADD67044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83" t="11395" r="51334" b="6853"/>
          <a:stretch/>
        </p:blipFill>
        <p:spPr>
          <a:xfrm>
            <a:off x="2947281" y="2004172"/>
            <a:ext cx="1104252" cy="1146520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4348FB88-7BA7-957B-1BC9-0F6AD49713F7}"/>
              </a:ext>
            </a:extLst>
          </p:cNvPr>
          <p:cNvCxnSpPr>
            <a:cxnSpLocks/>
          </p:cNvCxnSpPr>
          <p:nvPr/>
        </p:nvCxnSpPr>
        <p:spPr>
          <a:xfrm flipV="1">
            <a:off x="1923066" y="2662165"/>
            <a:ext cx="914937" cy="891740"/>
          </a:xfrm>
          <a:prstGeom prst="straightConnector1">
            <a:avLst/>
          </a:prstGeom>
          <a:ln w="1016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gual 15">
            <a:extLst>
              <a:ext uri="{FF2B5EF4-FFF2-40B4-BE49-F238E27FC236}">
                <a16:creationId xmlns:a16="http://schemas.microsoft.com/office/drawing/2014/main" id="{E8A2F18A-0248-1A94-DC57-6D05C4BDDAF2}"/>
              </a:ext>
            </a:extLst>
          </p:cNvPr>
          <p:cNvSpPr/>
          <p:nvPr/>
        </p:nvSpPr>
        <p:spPr>
          <a:xfrm>
            <a:off x="4068320" y="2251620"/>
            <a:ext cx="784241" cy="784241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8DA62CD8-078C-EBA8-6ABC-2B563C62F197}"/>
              </a:ext>
            </a:extLst>
          </p:cNvPr>
          <p:cNvGrpSpPr/>
          <p:nvPr/>
        </p:nvGrpSpPr>
        <p:grpSpPr>
          <a:xfrm>
            <a:off x="1572861" y="1997987"/>
            <a:ext cx="626208" cy="917257"/>
            <a:chOff x="1768200" y="2297283"/>
            <a:chExt cx="626208" cy="917257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035085D2-2D76-C0C5-8D34-9181AB55C368}"/>
                </a:ext>
              </a:extLst>
            </p:cNvPr>
            <p:cNvSpPr txBox="1"/>
            <p:nvPr/>
          </p:nvSpPr>
          <p:spPr>
            <a:xfrm>
              <a:off x="1768200" y="2297283"/>
              <a:ext cx="44275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2200" b="1" dirty="0"/>
                <a:t>IA</a:t>
              </a:r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DDB6EEE1-93AF-A26C-C634-78AAD2FDFFD9}"/>
                </a:ext>
              </a:extLst>
            </p:cNvPr>
            <p:cNvSpPr/>
            <p:nvPr/>
          </p:nvSpPr>
          <p:spPr>
            <a:xfrm>
              <a:off x="1996048" y="2648932"/>
              <a:ext cx="398360" cy="565608"/>
            </a:xfrm>
            <a:custGeom>
              <a:avLst/>
              <a:gdLst>
                <a:gd name="connsiteX0" fmla="*/ 2434 w 398360"/>
                <a:gd name="connsiteY0" fmla="*/ 0 h 565608"/>
                <a:gd name="connsiteX1" fmla="*/ 58995 w 398360"/>
                <a:gd name="connsiteY1" fmla="*/ 377072 h 565608"/>
                <a:gd name="connsiteX2" fmla="*/ 398360 w 398360"/>
                <a:gd name="connsiteY2" fmla="*/ 565608 h 565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8360" h="565608">
                  <a:moveTo>
                    <a:pt x="2434" y="0"/>
                  </a:moveTo>
                  <a:cubicBezTo>
                    <a:pt x="-2280" y="141402"/>
                    <a:pt x="-6993" y="282804"/>
                    <a:pt x="58995" y="377072"/>
                  </a:cubicBezTo>
                  <a:cubicBezTo>
                    <a:pt x="124983" y="471340"/>
                    <a:pt x="261671" y="518474"/>
                    <a:pt x="398360" y="565608"/>
                  </a:cubicBezTo>
                </a:path>
              </a:pathLst>
            </a:custGeom>
            <a:noFill/>
            <a:ln w="41275">
              <a:solidFill>
                <a:schemeClr val="tx1"/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D4336DEB-A9AC-7B30-6F0E-166625F62E82}"/>
              </a:ext>
            </a:extLst>
          </p:cNvPr>
          <p:cNvGrpSpPr/>
          <p:nvPr/>
        </p:nvGrpSpPr>
        <p:grpSpPr>
          <a:xfrm>
            <a:off x="1572861" y="4130844"/>
            <a:ext cx="4300175" cy="1726634"/>
            <a:chOff x="1572861" y="4130844"/>
            <a:chExt cx="4300175" cy="1726634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85C07AB8-E991-18E1-2A23-18149E1FA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5081" t="17516" r="10021"/>
            <a:stretch/>
          </p:blipFill>
          <p:spPr>
            <a:xfrm flipH="1">
              <a:off x="4692325" y="4130844"/>
              <a:ext cx="1180711" cy="1558905"/>
            </a:xfrm>
            <a:prstGeom prst="rect">
              <a:avLst/>
            </a:prstGeom>
          </p:spPr>
        </p:pic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B87F3A8A-642B-7E6B-A740-4D0D5DA48DD3}"/>
                </a:ext>
              </a:extLst>
            </p:cNvPr>
            <p:cNvCxnSpPr>
              <a:cxnSpLocks/>
            </p:cNvCxnSpPr>
            <p:nvPr/>
          </p:nvCxnSpPr>
          <p:spPr>
            <a:xfrm>
              <a:off x="1800709" y="4361548"/>
              <a:ext cx="914937" cy="891740"/>
            </a:xfrm>
            <a:prstGeom prst="straightConnector1">
              <a:avLst/>
            </a:prstGeom>
            <a:ln w="1016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F47CB3DC-E4E9-B6A0-87D4-3374B1FDB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683" t="11395" r="51334" b="6853"/>
            <a:stretch/>
          </p:blipFill>
          <p:spPr>
            <a:xfrm>
              <a:off x="2958546" y="4617658"/>
              <a:ext cx="1104252" cy="1146520"/>
            </a:xfrm>
            <a:prstGeom prst="rect">
              <a:avLst/>
            </a:prstGeom>
          </p:spPr>
        </p:pic>
        <p:sp>
          <p:nvSpPr>
            <p:cNvPr id="24" name="Igual 23">
              <a:extLst>
                <a:ext uri="{FF2B5EF4-FFF2-40B4-BE49-F238E27FC236}">
                  <a16:creationId xmlns:a16="http://schemas.microsoft.com/office/drawing/2014/main" id="{B523CBBA-098F-4998-1E70-3CC75E2D03C3}"/>
                </a:ext>
              </a:extLst>
            </p:cNvPr>
            <p:cNvSpPr/>
            <p:nvPr/>
          </p:nvSpPr>
          <p:spPr>
            <a:xfrm>
              <a:off x="4106941" y="4768148"/>
              <a:ext cx="784241" cy="784241"/>
            </a:xfrm>
            <a:prstGeom prst="mathEqual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tx1"/>
                </a:solidFill>
              </a:endParaRPr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F2459196-F432-935E-A9B3-768B4BC2979E}"/>
                </a:ext>
              </a:extLst>
            </p:cNvPr>
            <p:cNvGrpSpPr/>
            <p:nvPr/>
          </p:nvGrpSpPr>
          <p:grpSpPr>
            <a:xfrm>
              <a:off x="1572861" y="4849780"/>
              <a:ext cx="521671" cy="1007698"/>
              <a:chOff x="1572861" y="4849780"/>
              <a:chExt cx="521671" cy="1007698"/>
            </a:xfrm>
          </p:grpSpPr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3A31D8D0-73EB-1654-6567-26A2D94C68D8}"/>
                  </a:ext>
                </a:extLst>
              </p:cNvPr>
              <p:cNvSpPr txBox="1"/>
              <p:nvPr/>
            </p:nvSpPr>
            <p:spPr>
              <a:xfrm>
                <a:off x="1572861" y="5426591"/>
                <a:ext cx="442750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" sz="2200" b="1" dirty="0"/>
                  <a:t>IA</a:t>
                </a:r>
              </a:p>
            </p:txBody>
          </p:sp>
          <p:sp>
            <p:nvSpPr>
              <p:cNvPr id="25" name="Forma libre 24">
                <a:extLst>
                  <a:ext uri="{FF2B5EF4-FFF2-40B4-BE49-F238E27FC236}">
                    <a16:creationId xmlns:a16="http://schemas.microsoft.com/office/drawing/2014/main" id="{F40F49EA-3759-9DE6-D04E-ACAAF5C8C5A7}"/>
                  </a:ext>
                </a:extLst>
              </p:cNvPr>
              <p:cNvSpPr/>
              <p:nvPr/>
            </p:nvSpPr>
            <p:spPr>
              <a:xfrm flipV="1">
                <a:off x="1696172" y="4849780"/>
                <a:ext cx="398360" cy="565608"/>
              </a:xfrm>
              <a:custGeom>
                <a:avLst/>
                <a:gdLst>
                  <a:gd name="connsiteX0" fmla="*/ 2434 w 398360"/>
                  <a:gd name="connsiteY0" fmla="*/ 0 h 565608"/>
                  <a:gd name="connsiteX1" fmla="*/ 58995 w 398360"/>
                  <a:gd name="connsiteY1" fmla="*/ 377072 h 565608"/>
                  <a:gd name="connsiteX2" fmla="*/ 398360 w 398360"/>
                  <a:gd name="connsiteY2" fmla="*/ 565608 h 56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98360" h="565608">
                    <a:moveTo>
                      <a:pt x="2434" y="0"/>
                    </a:moveTo>
                    <a:cubicBezTo>
                      <a:pt x="-2280" y="141402"/>
                      <a:pt x="-6993" y="282804"/>
                      <a:pt x="58995" y="377072"/>
                    </a:cubicBezTo>
                    <a:cubicBezTo>
                      <a:pt x="124983" y="471340"/>
                      <a:pt x="261671" y="518474"/>
                      <a:pt x="398360" y="565608"/>
                    </a:cubicBezTo>
                  </a:path>
                </a:pathLst>
              </a:custGeom>
              <a:noFill/>
              <a:ln w="412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26" name="Forma libre 25">
            <a:extLst>
              <a:ext uri="{FF2B5EF4-FFF2-40B4-BE49-F238E27FC236}">
                <a16:creationId xmlns:a16="http://schemas.microsoft.com/office/drawing/2014/main" id="{685205A5-7EF5-E7D7-275F-14600AED112B}"/>
              </a:ext>
            </a:extLst>
          </p:cNvPr>
          <p:cNvSpPr/>
          <p:nvPr/>
        </p:nvSpPr>
        <p:spPr>
          <a:xfrm>
            <a:off x="1960774" y="3521242"/>
            <a:ext cx="1219471" cy="594713"/>
          </a:xfrm>
          <a:custGeom>
            <a:avLst/>
            <a:gdLst>
              <a:gd name="connsiteX0" fmla="*/ 0 w 1140644"/>
              <a:gd name="connsiteY0" fmla="*/ 343748 h 594713"/>
              <a:gd name="connsiteX1" fmla="*/ 245097 w 1140644"/>
              <a:gd name="connsiteY1" fmla="*/ 588845 h 594713"/>
              <a:gd name="connsiteX2" fmla="*/ 414780 w 1140644"/>
              <a:gd name="connsiteY2" fmla="*/ 466296 h 594713"/>
              <a:gd name="connsiteX3" fmla="*/ 499621 w 1140644"/>
              <a:gd name="connsiteY3" fmla="*/ 202346 h 594713"/>
              <a:gd name="connsiteX4" fmla="*/ 367646 w 1140644"/>
              <a:gd name="connsiteY4" fmla="*/ 98651 h 594713"/>
              <a:gd name="connsiteX5" fmla="*/ 282804 w 1140644"/>
              <a:gd name="connsiteY5" fmla="*/ 315467 h 594713"/>
              <a:gd name="connsiteX6" fmla="*/ 584462 w 1140644"/>
              <a:gd name="connsiteY6" fmla="*/ 588845 h 594713"/>
              <a:gd name="connsiteX7" fmla="*/ 772998 w 1140644"/>
              <a:gd name="connsiteY7" fmla="*/ 475723 h 594713"/>
              <a:gd name="connsiteX8" fmla="*/ 829559 w 1140644"/>
              <a:gd name="connsiteY8" fmla="*/ 164638 h 594713"/>
              <a:gd name="connsiteX9" fmla="*/ 933254 w 1140644"/>
              <a:gd name="connsiteY9" fmla="*/ 4383 h 594713"/>
              <a:gd name="connsiteX10" fmla="*/ 1140644 w 1140644"/>
              <a:gd name="connsiteY10" fmla="*/ 60944 h 59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40644" h="594713">
                <a:moveTo>
                  <a:pt x="0" y="343748"/>
                </a:moveTo>
                <a:cubicBezTo>
                  <a:pt x="87983" y="456084"/>
                  <a:pt x="175967" y="568420"/>
                  <a:pt x="245097" y="588845"/>
                </a:cubicBezTo>
                <a:cubicBezTo>
                  <a:pt x="314227" y="609270"/>
                  <a:pt x="372359" y="530713"/>
                  <a:pt x="414780" y="466296"/>
                </a:cubicBezTo>
                <a:cubicBezTo>
                  <a:pt x="457201" y="401880"/>
                  <a:pt x="507477" y="263620"/>
                  <a:pt x="499621" y="202346"/>
                </a:cubicBezTo>
                <a:cubicBezTo>
                  <a:pt x="491765" y="141072"/>
                  <a:pt x="403782" y="79798"/>
                  <a:pt x="367646" y="98651"/>
                </a:cubicBezTo>
                <a:cubicBezTo>
                  <a:pt x="331510" y="117504"/>
                  <a:pt x="246668" y="233768"/>
                  <a:pt x="282804" y="315467"/>
                </a:cubicBezTo>
                <a:cubicBezTo>
                  <a:pt x="318940" y="397166"/>
                  <a:pt x="502763" y="562136"/>
                  <a:pt x="584462" y="588845"/>
                </a:cubicBezTo>
                <a:cubicBezTo>
                  <a:pt x="666161" y="615554"/>
                  <a:pt x="732149" y="546424"/>
                  <a:pt x="772998" y="475723"/>
                </a:cubicBezTo>
                <a:cubicBezTo>
                  <a:pt x="813848" y="405022"/>
                  <a:pt x="802850" y="243195"/>
                  <a:pt x="829559" y="164638"/>
                </a:cubicBezTo>
                <a:cubicBezTo>
                  <a:pt x="856268" y="86081"/>
                  <a:pt x="881407" y="21665"/>
                  <a:pt x="933254" y="4383"/>
                </a:cubicBezTo>
                <a:cubicBezTo>
                  <a:pt x="985101" y="-12899"/>
                  <a:pt x="1062872" y="24022"/>
                  <a:pt x="1140644" y="60944"/>
                </a:cubicBezTo>
              </a:path>
            </a:pathLst>
          </a:custGeom>
          <a:noFill/>
          <a:ln w="1016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Igual 26">
            <a:extLst>
              <a:ext uri="{FF2B5EF4-FFF2-40B4-BE49-F238E27FC236}">
                <a16:creationId xmlns:a16="http://schemas.microsoft.com/office/drawing/2014/main" id="{D6EA8F02-9EFB-90FE-E446-6001F00C70CA}"/>
              </a:ext>
            </a:extLst>
          </p:cNvPr>
          <p:cNvSpPr/>
          <p:nvPr/>
        </p:nvSpPr>
        <p:spPr>
          <a:xfrm>
            <a:off x="4059778" y="3150458"/>
            <a:ext cx="784241" cy="784241"/>
          </a:xfrm>
          <a:prstGeom prst="mathEqual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F55F78A-62D0-377A-B5B9-6ACA3AEE3DB5}"/>
              </a:ext>
            </a:extLst>
          </p:cNvPr>
          <p:cNvSpPr txBox="1"/>
          <p:nvPr/>
        </p:nvSpPr>
        <p:spPr>
          <a:xfrm>
            <a:off x="1895352" y="1865290"/>
            <a:ext cx="4187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</a:t>
            </a: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F0A1F375-2EA7-0036-F668-03CF627F6FCC}"/>
              </a:ext>
            </a:extLst>
          </p:cNvPr>
          <p:cNvGrpSpPr/>
          <p:nvPr/>
        </p:nvGrpSpPr>
        <p:grpSpPr>
          <a:xfrm>
            <a:off x="1310629" y="969603"/>
            <a:ext cx="3987441" cy="764710"/>
            <a:chOff x="1310629" y="969603"/>
            <a:chExt cx="3987441" cy="764710"/>
          </a:xfrm>
        </p:grpSpPr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ED5F9974-E51F-57D1-6FA3-0027EF04F11E}"/>
                </a:ext>
              </a:extLst>
            </p:cNvPr>
            <p:cNvSpPr txBox="1"/>
            <p:nvPr/>
          </p:nvSpPr>
          <p:spPr>
            <a:xfrm>
              <a:off x="1310629" y="969603"/>
              <a:ext cx="3987441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500" b="1" dirty="0"/>
                <a:t>Lo que genera aprendizaje es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FC3BA26-BDFE-5182-12F2-2578AFCA45C9}"/>
                </a:ext>
              </a:extLst>
            </p:cNvPr>
            <p:cNvSpPr txBox="1"/>
            <p:nvPr/>
          </p:nvSpPr>
          <p:spPr>
            <a:xfrm>
              <a:off x="1319826" y="1180315"/>
              <a:ext cx="3969047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es-E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el proceso, no solo la calidad del resultado. Si las </a:t>
              </a:r>
              <a:r>
                <a:rPr kumimoji="0" lang="es-ES" sz="15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IAs</a:t>
              </a:r>
              <a:r>
                <a:rPr kumimoji="0" lang="es-ES" sz="15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se orientan a esto, funcionan.</a:t>
              </a:r>
              <a:endParaRPr lang="es-ES" dirty="0"/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A987D22E-6BA9-A02A-D281-417BDBE2A380}"/>
              </a:ext>
            </a:extLst>
          </p:cNvPr>
          <p:cNvSpPr txBox="1"/>
          <p:nvPr/>
        </p:nvSpPr>
        <p:spPr>
          <a:xfrm>
            <a:off x="2545778" y="5986395"/>
            <a:ext cx="30115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0" i="0" dirty="0">
                <a:solidFill>
                  <a:srgbClr val="4183C4"/>
                </a:solidFill>
                <a:effectLst/>
                <a:latin typeface="Open Sans" panose="020B0606030504020204" pitchFamily="34" charset="0"/>
                <a:hlinkClick r:id="rId6"/>
              </a:rPr>
              <a:t>Soderstrom &amp; Bjork, 2015</a:t>
            </a:r>
            <a:endParaRPr lang="es-ES" sz="10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C008AFC-1D50-B67E-297F-5931FA162BF9}"/>
              </a:ext>
            </a:extLst>
          </p:cNvPr>
          <p:cNvSpPr txBox="1"/>
          <p:nvPr/>
        </p:nvSpPr>
        <p:spPr>
          <a:xfrm>
            <a:off x="2742066" y="6171776"/>
            <a:ext cx="1409786" cy="245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0" i="0" dirty="0">
                <a:solidFill>
                  <a:srgbClr val="4183C4"/>
                </a:solidFill>
                <a:effectLst/>
                <a:latin typeface="Open Sans" panose="020B0606030504020204" pitchFamily="34" charset="0"/>
                <a:hlinkClick r:id="rId7"/>
              </a:rPr>
              <a:t>Bastani et al., 2025</a:t>
            </a:r>
            <a:endParaRPr lang="es-ES" sz="10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41F05E7-90BC-02F6-B70C-0EB3ABCFF4BE}"/>
              </a:ext>
            </a:extLst>
          </p:cNvPr>
          <p:cNvSpPr txBox="1"/>
          <p:nvPr/>
        </p:nvSpPr>
        <p:spPr>
          <a:xfrm>
            <a:off x="4050712" y="1651812"/>
            <a:ext cx="81945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0" b="1" dirty="0">
                <a:solidFill>
                  <a:srgbClr val="FF000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90409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 animBg="1"/>
      <p:bldP spid="16" grpId="0" animBg="1"/>
      <p:bldP spid="26" grpId="0" animBg="1"/>
      <p:bldP spid="27" grpId="0" animBg="1"/>
      <p:bldP spid="28" grpId="0"/>
      <p:bldP spid="3" grpId="0"/>
      <p:bldP spid="6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C49C-2271-9E1D-2221-D038A8211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1D2CC3C2-6642-7A1B-6587-DCB520272E82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AD32F33-B805-6669-2F70-77EC308DE055}"/>
              </a:ext>
            </a:extLst>
          </p:cNvPr>
          <p:cNvSpPr txBox="1"/>
          <p:nvPr/>
        </p:nvSpPr>
        <p:spPr>
          <a:xfrm>
            <a:off x="364013" y="133764"/>
            <a:ext cx="7870231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3</a:t>
            </a:r>
            <a:r>
              <a:rPr lang="es-ES" sz="2300" b="1" baseline="30000" dirty="0">
                <a:solidFill>
                  <a:schemeClr val="bg1"/>
                </a:solidFill>
              </a:rPr>
              <a:t>er</a:t>
            </a:r>
            <a:r>
              <a:rPr lang="es-ES" sz="2300" b="1" dirty="0">
                <a:solidFill>
                  <a:schemeClr val="bg1"/>
                </a:solidFill>
              </a:rPr>
              <a:t> error: “la IA es como una navaja suiza. Sirve para todo”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D23DE291-76F3-67E6-BD1C-36F515662A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16F472F4-E2E9-E5CF-A3F5-848B8C557112}"/>
              </a:ext>
            </a:extLst>
          </p:cNvPr>
          <p:cNvSpPr/>
          <p:nvPr/>
        </p:nvSpPr>
        <p:spPr>
          <a:xfrm>
            <a:off x="-138545" y="770709"/>
            <a:ext cx="7048392" cy="5762066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300" b="1" dirty="0">
              <a:solidFill>
                <a:schemeClr val="tx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2917001-D59C-BFE6-617E-CD1CB61C9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081" t="17516" r="10021"/>
          <a:stretch/>
        </p:blipFill>
        <p:spPr>
          <a:xfrm flipH="1">
            <a:off x="1509572" y="1376481"/>
            <a:ext cx="868845" cy="114714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5E1FBB-07BD-5650-58D3-0C52560CAF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591" t="12058" r="5033"/>
          <a:stretch/>
        </p:blipFill>
        <p:spPr>
          <a:xfrm flipH="1">
            <a:off x="4349423" y="1240925"/>
            <a:ext cx="945894" cy="1180088"/>
          </a:xfrm>
          <a:prstGeom prst="rect">
            <a:avLst/>
          </a:prstGeom>
        </p:spPr>
      </p:pic>
      <p:sp>
        <p:nvSpPr>
          <p:cNvPr id="16" name="Igual 15">
            <a:extLst>
              <a:ext uri="{FF2B5EF4-FFF2-40B4-BE49-F238E27FC236}">
                <a16:creationId xmlns:a16="http://schemas.microsoft.com/office/drawing/2014/main" id="{146201F5-006F-FA56-BDBB-739FD59AF5FA}"/>
              </a:ext>
            </a:extLst>
          </p:cNvPr>
          <p:cNvSpPr/>
          <p:nvPr/>
        </p:nvSpPr>
        <p:spPr>
          <a:xfrm>
            <a:off x="3688491" y="1555578"/>
            <a:ext cx="577096" cy="577096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59" name="Imagen 58">
            <a:extLst>
              <a:ext uri="{FF2B5EF4-FFF2-40B4-BE49-F238E27FC236}">
                <a16:creationId xmlns:a16="http://schemas.microsoft.com/office/drawing/2014/main" id="{06408741-7CAF-F011-A8F3-0BCF319AF4E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328" t="13131" r="17441" b="9336"/>
          <a:stretch/>
        </p:blipFill>
        <p:spPr>
          <a:xfrm>
            <a:off x="2399582" y="1420486"/>
            <a:ext cx="1081764" cy="740926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6E21390D-7E4C-A56B-20EB-CEDAB2D0D7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591" t="12058" r="5033"/>
          <a:stretch/>
        </p:blipFill>
        <p:spPr>
          <a:xfrm flipH="1">
            <a:off x="5060774" y="3621664"/>
            <a:ext cx="1285416" cy="1603672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B62A6A07-7B9C-3CB6-6E86-45E505A2FD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328" t="13131" r="17441" b="9336"/>
          <a:stretch/>
        </p:blipFill>
        <p:spPr>
          <a:xfrm>
            <a:off x="2541309" y="3978049"/>
            <a:ext cx="1470055" cy="1006876"/>
          </a:xfrm>
          <a:prstGeom prst="rect">
            <a:avLst/>
          </a:prstGeom>
        </p:spPr>
      </p:pic>
      <p:sp>
        <p:nvSpPr>
          <p:cNvPr id="62" name="CuadroTexto 61">
            <a:extLst>
              <a:ext uri="{FF2B5EF4-FFF2-40B4-BE49-F238E27FC236}">
                <a16:creationId xmlns:a16="http://schemas.microsoft.com/office/drawing/2014/main" id="{7F00C281-8E43-2269-F280-EBBBF903E26E}"/>
              </a:ext>
            </a:extLst>
          </p:cNvPr>
          <p:cNvSpPr txBox="1"/>
          <p:nvPr/>
        </p:nvSpPr>
        <p:spPr>
          <a:xfrm>
            <a:off x="3711587" y="3547247"/>
            <a:ext cx="1277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Programar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BE290D9A-46FD-2E80-A395-B183ECC880EE}"/>
              </a:ext>
            </a:extLst>
          </p:cNvPr>
          <p:cNvSpPr txBox="1"/>
          <p:nvPr/>
        </p:nvSpPr>
        <p:spPr>
          <a:xfrm>
            <a:off x="4011515" y="4129546"/>
            <a:ext cx="1470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Buscar información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1F0E22A7-A1BA-5BEA-30D3-23044D611AE0}"/>
              </a:ext>
            </a:extLst>
          </p:cNvPr>
          <p:cNvSpPr txBox="1"/>
          <p:nvPr/>
        </p:nvSpPr>
        <p:spPr>
          <a:xfrm>
            <a:off x="3760924" y="4904005"/>
            <a:ext cx="14700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Explicar conceptos</a:t>
            </a:r>
          </a:p>
        </p:txBody>
      </p:sp>
      <p:pic>
        <p:nvPicPr>
          <p:cNvPr id="65" name="Imagen 64">
            <a:extLst>
              <a:ext uri="{FF2B5EF4-FFF2-40B4-BE49-F238E27FC236}">
                <a16:creationId xmlns:a16="http://schemas.microsoft.com/office/drawing/2014/main" id="{08DDDEE9-14FD-063B-7538-368D5946010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769" t="15480" r="6761"/>
          <a:stretch/>
        </p:blipFill>
        <p:spPr>
          <a:xfrm>
            <a:off x="527629" y="3725848"/>
            <a:ext cx="1169435" cy="1473498"/>
          </a:xfrm>
          <a:prstGeom prst="rect">
            <a:avLst/>
          </a:prstGeom>
        </p:spPr>
      </p:pic>
      <p:sp>
        <p:nvSpPr>
          <p:cNvPr id="66" name="CuadroTexto 65">
            <a:extLst>
              <a:ext uri="{FF2B5EF4-FFF2-40B4-BE49-F238E27FC236}">
                <a16:creationId xmlns:a16="http://schemas.microsoft.com/office/drawing/2014/main" id="{34C02353-AD03-3FCB-A1FA-9A80DC913696}"/>
              </a:ext>
            </a:extLst>
          </p:cNvPr>
          <p:cNvSpPr txBox="1"/>
          <p:nvPr/>
        </p:nvSpPr>
        <p:spPr>
          <a:xfrm>
            <a:off x="1555378" y="3613165"/>
            <a:ext cx="113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</a:rPr>
              <a:t>Redactar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907523CA-A138-9864-2B49-0EC168B835F5}"/>
              </a:ext>
            </a:extLst>
          </p:cNvPr>
          <p:cNvSpPr txBox="1"/>
          <p:nvPr/>
        </p:nvSpPr>
        <p:spPr>
          <a:xfrm>
            <a:off x="1611485" y="4278593"/>
            <a:ext cx="147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</a:rPr>
              <a:t>Resumir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9EC3016B-16B9-D4DA-328C-7D866DDC90CB}"/>
              </a:ext>
            </a:extLst>
          </p:cNvPr>
          <p:cNvSpPr txBox="1"/>
          <p:nvPr/>
        </p:nvSpPr>
        <p:spPr>
          <a:xfrm>
            <a:off x="1660135" y="5025342"/>
            <a:ext cx="1470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</a:rPr>
              <a:t>Cuestionar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C114BA43-4263-E750-881A-F9BDF49C26E7}"/>
              </a:ext>
            </a:extLst>
          </p:cNvPr>
          <p:cNvSpPr txBox="1"/>
          <p:nvPr/>
        </p:nvSpPr>
        <p:spPr>
          <a:xfrm>
            <a:off x="3528895" y="2836340"/>
            <a:ext cx="318698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Usos que suelen promover el aprendizaje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A078F3B2-962A-E2B8-8E64-49BEC2D16E7B}"/>
              </a:ext>
            </a:extLst>
          </p:cNvPr>
          <p:cNvSpPr txBox="1"/>
          <p:nvPr/>
        </p:nvSpPr>
        <p:spPr>
          <a:xfrm>
            <a:off x="245367" y="2836340"/>
            <a:ext cx="3186984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Usos que suelen desincentivar el aprendizaje</a:t>
            </a: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C0E34E24-6C30-6A35-3DE4-B1FF7B69100D}"/>
              </a:ext>
            </a:extLst>
          </p:cNvPr>
          <p:cNvSpPr txBox="1"/>
          <p:nvPr/>
        </p:nvSpPr>
        <p:spPr>
          <a:xfrm>
            <a:off x="2632795" y="5750055"/>
            <a:ext cx="169710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b="0" i="0" dirty="0">
                <a:solidFill>
                  <a:srgbClr val="4183C4"/>
                </a:solidFill>
                <a:effectLst/>
                <a:latin typeface="Open Sans" panose="020B0606030504020204" pitchFamily="34" charset="0"/>
                <a:hlinkClick r:id="rId7"/>
              </a:rPr>
              <a:t>Kazemitabaar et al., 2023</a:t>
            </a:r>
            <a:endParaRPr lang="es-ES" sz="1000" dirty="0"/>
          </a:p>
        </p:txBody>
      </p:sp>
      <p:sp>
        <p:nvSpPr>
          <p:cNvPr id="73" name="CuadroTexto 72">
            <a:hlinkClick r:id="rId8"/>
            <a:extLst>
              <a:ext uri="{FF2B5EF4-FFF2-40B4-BE49-F238E27FC236}">
                <a16:creationId xmlns:a16="http://schemas.microsoft.com/office/drawing/2014/main" id="{4134972B-33D0-B1A1-D223-8792A0D12015}"/>
              </a:ext>
            </a:extLst>
          </p:cNvPr>
          <p:cNvSpPr txBox="1"/>
          <p:nvPr/>
        </p:nvSpPr>
        <p:spPr>
          <a:xfrm>
            <a:off x="2881662" y="5958361"/>
            <a:ext cx="11993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00" b="0" i="0">
                <a:solidFill>
                  <a:srgbClr val="4183C4"/>
                </a:solidFill>
                <a:effectLst/>
                <a:latin typeface="Open Sans" panose="020B0606030504020204" pitchFamily="34" charset="0"/>
              </a:defRPr>
            </a:lvl1pPr>
          </a:lstStyle>
          <a:p>
            <a:r>
              <a:rPr lang="es-ES" dirty="0" err="1"/>
              <a:t>Kestin</a:t>
            </a:r>
            <a:r>
              <a:rPr lang="es-ES" dirty="0"/>
              <a:t> et al, 2025</a:t>
            </a:r>
          </a:p>
        </p:txBody>
      </p:sp>
    </p:spTree>
    <p:extLst>
      <p:ext uri="{BB962C8B-B14F-4D97-AF65-F5344CB8AC3E}">
        <p14:creationId xmlns:p14="http://schemas.microsoft.com/office/powerpoint/2010/main" val="209688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 animBg="1"/>
      <p:bldP spid="16" grpId="0" animBg="1"/>
      <p:bldP spid="62" grpId="0"/>
      <p:bldP spid="63" grpId="0"/>
      <p:bldP spid="64" grpId="0"/>
      <p:bldP spid="66" grpId="0"/>
      <p:bldP spid="67" grpId="0"/>
      <p:bldP spid="68" grpId="0"/>
      <p:bldP spid="69" grpId="0" animBg="1"/>
      <p:bldP spid="70" grpId="0" animBg="1"/>
      <p:bldP spid="72" grpId="0"/>
      <p:bldP spid="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E9DBF-1ADA-BBFC-BC9D-7B07CC507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64D03457-9F24-DBD5-EF36-078E756C956B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6DE62F8-B74F-0D46-9F80-908122380095}"/>
              </a:ext>
            </a:extLst>
          </p:cNvPr>
          <p:cNvSpPr txBox="1"/>
          <p:nvPr/>
        </p:nvSpPr>
        <p:spPr>
          <a:xfrm>
            <a:off x="364013" y="133764"/>
            <a:ext cx="241983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CONCLUSIONES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922048E8-07BE-43E1-0092-DCAEABF08C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63E33C1D-147C-8C76-1789-079AA9979984}"/>
              </a:ext>
            </a:extLst>
          </p:cNvPr>
          <p:cNvSpPr/>
          <p:nvPr/>
        </p:nvSpPr>
        <p:spPr>
          <a:xfrm>
            <a:off x="-138545" y="770709"/>
            <a:ext cx="7048392" cy="5762066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300" b="1" dirty="0">
              <a:solidFill>
                <a:schemeClr val="tx1"/>
              </a:solidFill>
            </a:endParaRP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784C8768-C3CA-6943-3CD2-6CC1C88F6F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591" t="12058" r="5033"/>
          <a:stretch/>
        </p:blipFill>
        <p:spPr>
          <a:xfrm flipH="1">
            <a:off x="5361223" y="2773792"/>
            <a:ext cx="1285416" cy="1603672"/>
          </a:xfrm>
          <a:prstGeom prst="rect">
            <a:avLst/>
          </a:prstGeom>
        </p:spPr>
      </p:pic>
      <p:pic>
        <p:nvPicPr>
          <p:cNvPr id="65" name="Imagen 64">
            <a:extLst>
              <a:ext uri="{FF2B5EF4-FFF2-40B4-BE49-F238E27FC236}">
                <a16:creationId xmlns:a16="http://schemas.microsoft.com/office/drawing/2014/main" id="{6CC8EF6B-E3B6-9D16-F3E6-DA5A120C5A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769" t="15480" r="6761"/>
          <a:stretch/>
        </p:blipFill>
        <p:spPr>
          <a:xfrm flipH="1">
            <a:off x="243420" y="2877976"/>
            <a:ext cx="1169435" cy="1473498"/>
          </a:xfrm>
          <a:prstGeom prst="rect">
            <a:avLst/>
          </a:prstGeom>
        </p:spPr>
      </p:pic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A20B2E6-B418-6A96-892F-CA1B65772806}"/>
              </a:ext>
            </a:extLst>
          </p:cNvPr>
          <p:cNvCxnSpPr>
            <a:cxnSpLocks/>
          </p:cNvCxnSpPr>
          <p:nvPr/>
        </p:nvCxnSpPr>
        <p:spPr>
          <a:xfrm>
            <a:off x="1526465" y="3806826"/>
            <a:ext cx="4090564" cy="0"/>
          </a:xfrm>
          <a:prstGeom prst="straightConnector1">
            <a:avLst/>
          </a:prstGeom>
          <a:ln w="889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3D28D4B-7C79-1341-00F9-6FA8876CC68A}"/>
              </a:ext>
            </a:extLst>
          </p:cNvPr>
          <p:cNvGrpSpPr/>
          <p:nvPr/>
        </p:nvGrpSpPr>
        <p:grpSpPr>
          <a:xfrm>
            <a:off x="1885042" y="2933497"/>
            <a:ext cx="1092901" cy="1378625"/>
            <a:chOff x="2119825" y="2562787"/>
            <a:chExt cx="1092901" cy="1378625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FB9136AC-4053-C588-0569-5160C414DD67}"/>
                </a:ext>
              </a:extLst>
            </p:cNvPr>
            <p:cNvSpPr txBox="1"/>
            <p:nvPr/>
          </p:nvSpPr>
          <p:spPr>
            <a:xfrm>
              <a:off x="2172614" y="3572080"/>
              <a:ext cx="987322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Fricción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86A4029-D38B-E58A-893D-36A7D6974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051" t="9541" r="48342" b="15888"/>
            <a:stretch/>
          </p:blipFill>
          <p:spPr>
            <a:xfrm>
              <a:off x="2119825" y="2562787"/>
              <a:ext cx="1092901" cy="976773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8551AA1-6115-A3B4-1E08-390485A5B040}"/>
              </a:ext>
            </a:extLst>
          </p:cNvPr>
          <p:cNvGrpSpPr/>
          <p:nvPr/>
        </p:nvGrpSpPr>
        <p:grpSpPr>
          <a:xfrm>
            <a:off x="2790857" y="3725496"/>
            <a:ext cx="1938912" cy="1279215"/>
            <a:chOff x="3244702" y="3490506"/>
            <a:chExt cx="1938912" cy="1279215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1AF7712-BC04-04B9-79ED-1EFA4EF5E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2199" t="10620" r="12126" b="4865"/>
            <a:stretch/>
          </p:blipFill>
          <p:spPr>
            <a:xfrm>
              <a:off x="3244702" y="3490506"/>
              <a:ext cx="1938912" cy="1209588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F899B71-67DD-2323-7A32-22B2C0D003CD}"/>
                </a:ext>
              </a:extLst>
            </p:cNvPr>
            <p:cNvSpPr txBox="1"/>
            <p:nvPr/>
          </p:nvSpPr>
          <p:spPr>
            <a:xfrm>
              <a:off x="3993461" y="4400389"/>
              <a:ext cx="1126975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Conexión</a:t>
              </a:r>
            </a:p>
          </p:txBody>
        </p:sp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822495BA-AB0B-472F-58E5-7B07479A6382}"/>
              </a:ext>
            </a:extLst>
          </p:cNvPr>
          <p:cNvGrpSpPr/>
          <p:nvPr/>
        </p:nvGrpSpPr>
        <p:grpSpPr>
          <a:xfrm>
            <a:off x="3712559" y="1875596"/>
            <a:ext cx="1780395" cy="1757372"/>
            <a:chOff x="3712559" y="1826168"/>
            <a:chExt cx="1780395" cy="1757372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0675E99E-4605-C415-C061-4A66748C9829}"/>
                </a:ext>
              </a:extLst>
            </p:cNvPr>
            <p:cNvGrpSpPr/>
            <p:nvPr/>
          </p:nvGrpSpPr>
          <p:grpSpPr>
            <a:xfrm>
              <a:off x="3712559" y="1826168"/>
              <a:ext cx="1593737" cy="1739075"/>
              <a:chOff x="5794638" y="1853235"/>
              <a:chExt cx="3000881" cy="3274541"/>
            </a:xfrm>
          </p:grpSpPr>
          <p:pic>
            <p:nvPicPr>
              <p:cNvPr id="17" name="Imagen 16">
                <a:extLst>
                  <a:ext uri="{FF2B5EF4-FFF2-40B4-BE49-F238E27FC236}">
                    <a16:creationId xmlns:a16="http://schemas.microsoft.com/office/drawing/2014/main" id="{8526C4AC-7546-CC34-5930-EA3C2F165B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47798" t="6285" r="6261" b="3562"/>
              <a:stretch/>
            </p:blipFill>
            <p:spPr>
              <a:xfrm>
                <a:off x="5808195" y="1853235"/>
                <a:ext cx="2987324" cy="3274541"/>
              </a:xfrm>
              <a:prstGeom prst="rect">
                <a:avLst/>
              </a:prstGeom>
            </p:spPr>
          </p:pic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013EA0CB-20C7-259E-27C3-68B6C2FFC333}"/>
                  </a:ext>
                </a:extLst>
              </p:cNvPr>
              <p:cNvSpPr/>
              <p:nvPr/>
            </p:nvSpPr>
            <p:spPr>
              <a:xfrm>
                <a:off x="5794638" y="2190006"/>
                <a:ext cx="136352" cy="87447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A8082D3-8DE9-5808-DB53-994A8837718A}"/>
                </a:ext>
              </a:extLst>
            </p:cNvPr>
            <p:cNvSpPr txBox="1"/>
            <p:nvPr/>
          </p:nvSpPr>
          <p:spPr>
            <a:xfrm>
              <a:off x="4240688" y="3214208"/>
              <a:ext cx="1252266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Andamiaje</a:t>
              </a:r>
            </a:p>
          </p:txBody>
        </p:sp>
      </p:grpSp>
      <p:sp>
        <p:nvSpPr>
          <p:cNvPr id="70" name="CuadroTexto 69">
            <a:extLst>
              <a:ext uri="{FF2B5EF4-FFF2-40B4-BE49-F238E27FC236}">
                <a16:creationId xmlns:a16="http://schemas.microsoft.com/office/drawing/2014/main" id="{2BC529DD-3675-68F2-CBFE-2A6280E48B43}"/>
              </a:ext>
            </a:extLst>
          </p:cNvPr>
          <p:cNvSpPr txBox="1"/>
          <p:nvPr/>
        </p:nvSpPr>
        <p:spPr>
          <a:xfrm>
            <a:off x="1526465" y="940249"/>
            <a:ext cx="37183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Que las </a:t>
            </a:r>
            <a:r>
              <a:rPr lang="es-ES" b="1" dirty="0" err="1"/>
              <a:t>IAs</a:t>
            </a:r>
            <a:r>
              <a:rPr lang="es-ES" b="1" dirty="0"/>
              <a:t> sean amigas o enemigas depende de cómo se relacionan con el proceso natural de aprendizaje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8C069D2-6B0A-33AB-8261-35E30A54A7D4}"/>
              </a:ext>
            </a:extLst>
          </p:cNvPr>
          <p:cNvGrpSpPr/>
          <p:nvPr/>
        </p:nvGrpSpPr>
        <p:grpSpPr>
          <a:xfrm>
            <a:off x="2060756" y="-471491"/>
            <a:ext cx="3021981" cy="7786747"/>
            <a:chOff x="2122040" y="-630252"/>
            <a:chExt cx="3021981" cy="7786747"/>
          </a:xfrm>
        </p:grpSpPr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F4621D8-5D7D-DB96-4A47-58877243DAD0}"/>
                </a:ext>
              </a:extLst>
            </p:cNvPr>
            <p:cNvSpPr txBox="1"/>
            <p:nvPr/>
          </p:nvSpPr>
          <p:spPr>
            <a:xfrm>
              <a:off x="2130084" y="5178194"/>
              <a:ext cx="65274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4000" b="1" dirty="0">
                  <a:solidFill>
                    <a:srgbClr val="FF0000"/>
                  </a:solidFill>
                </a:rPr>
                <a:t>IA</a:t>
              </a: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AA227724-6F43-42F5-4981-C653176FB6B0}"/>
                </a:ext>
              </a:extLst>
            </p:cNvPr>
            <p:cNvSpPr txBox="1"/>
            <p:nvPr/>
          </p:nvSpPr>
          <p:spPr>
            <a:xfrm>
              <a:off x="2122040" y="-630252"/>
              <a:ext cx="3021981" cy="77867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50000" dirty="0"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F580553-CCEE-82AF-34B0-34DCFB7E91AF}"/>
              </a:ext>
            </a:extLst>
          </p:cNvPr>
          <p:cNvGrpSpPr/>
          <p:nvPr/>
        </p:nvGrpSpPr>
        <p:grpSpPr>
          <a:xfrm>
            <a:off x="1369064" y="3668110"/>
            <a:ext cx="4148867" cy="1472506"/>
            <a:chOff x="1369064" y="3668110"/>
            <a:chExt cx="4148867" cy="1472506"/>
          </a:xfrm>
        </p:grpSpPr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68E15399-1CD9-1EC5-A2EA-C6877EC20B63}"/>
                </a:ext>
              </a:extLst>
            </p:cNvPr>
            <p:cNvSpPr/>
            <p:nvPr/>
          </p:nvSpPr>
          <p:spPr>
            <a:xfrm>
              <a:off x="1513490" y="3668110"/>
              <a:ext cx="4004441" cy="1472506"/>
            </a:xfrm>
            <a:custGeom>
              <a:avLst/>
              <a:gdLst>
                <a:gd name="connsiteX0" fmla="*/ 0 w 4004441"/>
                <a:gd name="connsiteY0" fmla="*/ 357352 h 1472506"/>
                <a:gd name="connsiteX1" fmla="*/ 325820 w 4004441"/>
                <a:gd name="connsiteY1" fmla="*/ 367862 h 1472506"/>
                <a:gd name="connsiteX2" fmla="*/ 378372 w 4004441"/>
                <a:gd name="connsiteY2" fmla="*/ 693683 h 1472506"/>
                <a:gd name="connsiteX3" fmla="*/ 956441 w 4004441"/>
                <a:gd name="connsiteY3" fmla="*/ 735724 h 1472506"/>
                <a:gd name="connsiteX4" fmla="*/ 1366344 w 4004441"/>
                <a:gd name="connsiteY4" fmla="*/ 693683 h 1472506"/>
                <a:gd name="connsiteX5" fmla="*/ 1681655 w 4004441"/>
                <a:gd name="connsiteY5" fmla="*/ 819807 h 1472506"/>
                <a:gd name="connsiteX6" fmla="*/ 1870841 w 4004441"/>
                <a:gd name="connsiteY6" fmla="*/ 1135118 h 1472506"/>
                <a:gd name="connsiteX7" fmla="*/ 2017986 w 4004441"/>
                <a:gd name="connsiteY7" fmla="*/ 1418897 h 1472506"/>
                <a:gd name="connsiteX8" fmla="*/ 2501462 w 4004441"/>
                <a:gd name="connsiteY8" fmla="*/ 1439918 h 1472506"/>
                <a:gd name="connsiteX9" fmla="*/ 3100551 w 4004441"/>
                <a:gd name="connsiteY9" fmla="*/ 1471449 h 1472506"/>
                <a:gd name="connsiteX10" fmla="*/ 3237186 w 4004441"/>
                <a:gd name="connsiteY10" fmla="*/ 1397876 h 1472506"/>
                <a:gd name="connsiteX11" fmla="*/ 3268717 w 4004441"/>
                <a:gd name="connsiteY11" fmla="*/ 1019504 h 1472506"/>
                <a:gd name="connsiteX12" fmla="*/ 3205655 w 4004441"/>
                <a:gd name="connsiteY12" fmla="*/ 367862 h 1472506"/>
                <a:gd name="connsiteX13" fmla="*/ 3195144 w 4004441"/>
                <a:gd name="connsiteY13" fmla="*/ 31531 h 1472506"/>
                <a:gd name="connsiteX14" fmla="*/ 3520965 w 4004441"/>
                <a:gd name="connsiteY14" fmla="*/ 21021 h 1472506"/>
                <a:gd name="connsiteX15" fmla="*/ 4004441 w 4004441"/>
                <a:gd name="connsiteY15" fmla="*/ 0 h 147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004441" h="1472506">
                  <a:moveTo>
                    <a:pt x="0" y="357352"/>
                  </a:moveTo>
                  <a:cubicBezTo>
                    <a:pt x="131379" y="334579"/>
                    <a:pt x="262758" y="311807"/>
                    <a:pt x="325820" y="367862"/>
                  </a:cubicBezTo>
                  <a:cubicBezTo>
                    <a:pt x="388882" y="423917"/>
                    <a:pt x="273269" y="632373"/>
                    <a:pt x="378372" y="693683"/>
                  </a:cubicBezTo>
                  <a:cubicBezTo>
                    <a:pt x="483475" y="754993"/>
                    <a:pt x="791779" y="735724"/>
                    <a:pt x="956441" y="735724"/>
                  </a:cubicBezTo>
                  <a:cubicBezTo>
                    <a:pt x="1121103" y="735724"/>
                    <a:pt x="1245475" y="679669"/>
                    <a:pt x="1366344" y="693683"/>
                  </a:cubicBezTo>
                  <a:cubicBezTo>
                    <a:pt x="1487213" y="707697"/>
                    <a:pt x="1597572" y="746235"/>
                    <a:pt x="1681655" y="819807"/>
                  </a:cubicBezTo>
                  <a:cubicBezTo>
                    <a:pt x="1765738" y="893380"/>
                    <a:pt x="1814786" y="1035270"/>
                    <a:pt x="1870841" y="1135118"/>
                  </a:cubicBezTo>
                  <a:cubicBezTo>
                    <a:pt x="1926896" y="1234966"/>
                    <a:pt x="1912883" y="1368097"/>
                    <a:pt x="2017986" y="1418897"/>
                  </a:cubicBezTo>
                  <a:cubicBezTo>
                    <a:pt x="2123090" y="1469697"/>
                    <a:pt x="2501462" y="1439918"/>
                    <a:pt x="2501462" y="1439918"/>
                  </a:cubicBezTo>
                  <a:cubicBezTo>
                    <a:pt x="2681889" y="1448677"/>
                    <a:pt x="2977930" y="1478456"/>
                    <a:pt x="3100551" y="1471449"/>
                  </a:cubicBezTo>
                  <a:cubicBezTo>
                    <a:pt x="3223172" y="1464442"/>
                    <a:pt x="3209158" y="1473200"/>
                    <a:pt x="3237186" y="1397876"/>
                  </a:cubicBezTo>
                  <a:cubicBezTo>
                    <a:pt x="3265214" y="1322552"/>
                    <a:pt x="3273972" y="1191173"/>
                    <a:pt x="3268717" y="1019504"/>
                  </a:cubicBezTo>
                  <a:cubicBezTo>
                    <a:pt x="3263462" y="847835"/>
                    <a:pt x="3217917" y="532524"/>
                    <a:pt x="3205655" y="367862"/>
                  </a:cubicBezTo>
                  <a:cubicBezTo>
                    <a:pt x="3193393" y="203200"/>
                    <a:pt x="3142592" y="89338"/>
                    <a:pt x="3195144" y="31531"/>
                  </a:cubicBezTo>
                  <a:cubicBezTo>
                    <a:pt x="3247696" y="-26276"/>
                    <a:pt x="3520965" y="21021"/>
                    <a:pt x="3520965" y="21021"/>
                  </a:cubicBezTo>
                  <a:lnTo>
                    <a:pt x="4004441" y="0"/>
                  </a:lnTo>
                </a:path>
              </a:pathLst>
            </a:custGeom>
            <a:noFill/>
            <a:ln w="101600">
              <a:solidFill>
                <a:schemeClr val="accent3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91580C5A-B832-74AD-C5DF-91E8ACAD0441}"/>
                </a:ext>
              </a:extLst>
            </p:cNvPr>
            <p:cNvSpPr txBox="1"/>
            <p:nvPr/>
          </p:nvSpPr>
          <p:spPr>
            <a:xfrm>
              <a:off x="1369064" y="4268921"/>
              <a:ext cx="55976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3200" b="1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5659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 animBg="1"/>
      <p:bldP spid="7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D7EE8-74A4-4013-29F8-8E138226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78043028-E7A2-9ADB-BF5E-55A8110078ED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E0F541B-6BB2-C397-1A50-08C6A4E398AD}"/>
              </a:ext>
            </a:extLst>
          </p:cNvPr>
          <p:cNvSpPr txBox="1"/>
          <p:nvPr/>
        </p:nvSpPr>
        <p:spPr>
          <a:xfrm>
            <a:off x="364013" y="133764"/>
            <a:ext cx="241983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CONCLUSIONES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3FB302E4-91E8-6C7A-496F-4A57615FBB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963FDD52-2F31-F391-7DFD-EFEA72826EE6}"/>
              </a:ext>
            </a:extLst>
          </p:cNvPr>
          <p:cNvSpPr/>
          <p:nvPr/>
        </p:nvSpPr>
        <p:spPr>
          <a:xfrm>
            <a:off x="-138545" y="770709"/>
            <a:ext cx="7048392" cy="5762066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300" b="1" dirty="0">
              <a:solidFill>
                <a:schemeClr val="tx1"/>
              </a:solidFill>
            </a:endParaRP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2CAE7FFE-E8B4-9CA6-9247-CC4CB7995226}"/>
              </a:ext>
            </a:extLst>
          </p:cNvPr>
          <p:cNvSpPr txBox="1"/>
          <p:nvPr/>
        </p:nvSpPr>
        <p:spPr>
          <a:xfrm>
            <a:off x="1526465" y="1159078"/>
            <a:ext cx="371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Buena parte de ese buen uso de las </a:t>
            </a:r>
            <a:r>
              <a:rPr lang="es-ES" b="1" dirty="0" err="1"/>
              <a:t>IAs</a:t>
            </a:r>
            <a:r>
              <a:rPr lang="es-ES" b="1" dirty="0"/>
              <a:t> implica crear esclusas</a:t>
            </a:r>
          </a:p>
        </p:txBody>
      </p:sp>
      <p:sp>
        <p:nvSpPr>
          <p:cNvPr id="2" name="CuadroTexto 1">
            <a:hlinkClick r:id="rId3"/>
            <a:extLst>
              <a:ext uri="{FF2B5EF4-FFF2-40B4-BE49-F238E27FC236}">
                <a16:creationId xmlns:a16="http://schemas.microsoft.com/office/drawing/2014/main" id="{A6AE56DB-FC00-8300-E6DC-1104925242E7}"/>
              </a:ext>
            </a:extLst>
          </p:cNvPr>
          <p:cNvSpPr txBox="1"/>
          <p:nvPr/>
        </p:nvSpPr>
        <p:spPr>
          <a:xfrm>
            <a:off x="2869323" y="6190593"/>
            <a:ext cx="10326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00" dirty="0">
                <a:hlinkClick r:id="rId3"/>
              </a:rPr>
              <a:t>Arjona D., 2026</a:t>
            </a:r>
            <a:endParaRPr lang="es-ES" sz="10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5F4383-FDF0-E783-FC3E-DBB695CE3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83" y="2080715"/>
            <a:ext cx="5624934" cy="314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7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DD20-6478-7557-E65F-7680A55BA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6A8AF88F-9D84-0BDA-0637-24A4192D94A1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0BB0E00-CF4D-DB63-2FD9-8755254F42FD}"/>
              </a:ext>
            </a:extLst>
          </p:cNvPr>
          <p:cNvSpPr txBox="1"/>
          <p:nvPr/>
        </p:nvSpPr>
        <p:spPr>
          <a:xfrm>
            <a:off x="364013" y="133764"/>
            <a:ext cx="241983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CONCLUSIONES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BC820A39-26E1-74BB-4959-A5C30AAA8C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4B5E6625-6D4C-7098-7948-19338E62B6C2}"/>
              </a:ext>
            </a:extLst>
          </p:cNvPr>
          <p:cNvSpPr/>
          <p:nvPr/>
        </p:nvSpPr>
        <p:spPr>
          <a:xfrm>
            <a:off x="-138545" y="770709"/>
            <a:ext cx="7048392" cy="5762066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 b="1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CE1B049-B8B0-0D9F-252E-6038AADBBD5D}"/>
              </a:ext>
            </a:extLst>
          </p:cNvPr>
          <p:cNvSpPr txBox="1"/>
          <p:nvPr/>
        </p:nvSpPr>
        <p:spPr>
          <a:xfrm>
            <a:off x="1526465" y="989677"/>
            <a:ext cx="3718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Esclusa temporal: en qué momento del aprendizaje deben usarse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1035433-10AD-4247-78CD-7ADDFCC4F22E}"/>
              </a:ext>
            </a:extLst>
          </p:cNvPr>
          <p:cNvSpPr txBox="1"/>
          <p:nvPr/>
        </p:nvSpPr>
        <p:spPr>
          <a:xfrm>
            <a:off x="900443" y="2259053"/>
            <a:ext cx="5231674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500" b="1" dirty="0">
                <a:solidFill>
                  <a:schemeClr val="tx1"/>
                </a:solidFill>
              </a:rPr>
              <a:t>IA puede llegar antes, durante o después del esfuerzo. Si llega antes, coloniza la fase generativa. Si llega durante, puede orientar o puede sustituir. Si llega después, funciona como contraste, espejo, adversario, corrector.</a:t>
            </a:r>
          </a:p>
        </p:txBody>
      </p:sp>
    </p:spTree>
    <p:extLst>
      <p:ext uri="{BB962C8B-B14F-4D97-AF65-F5344CB8AC3E}">
        <p14:creationId xmlns:p14="http://schemas.microsoft.com/office/powerpoint/2010/main" val="217320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CE168-BADA-E11B-E500-13ABDE0E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6807CA80-EE14-F299-3540-37E1AD698655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3B63FE6-FA82-5406-D144-0D7C1EEC6189}"/>
              </a:ext>
            </a:extLst>
          </p:cNvPr>
          <p:cNvSpPr txBox="1"/>
          <p:nvPr/>
        </p:nvSpPr>
        <p:spPr>
          <a:xfrm>
            <a:off x="364013" y="133764"/>
            <a:ext cx="241983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CONCLUSIONES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545382B2-2E80-FBC5-27F5-CF350AC8CF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9FD895D5-AD5C-476E-A9FF-A72AE4F5ABE1}"/>
              </a:ext>
            </a:extLst>
          </p:cNvPr>
          <p:cNvSpPr/>
          <p:nvPr/>
        </p:nvSpPr>
        <p:spPr>
          <a:xfrm>
            <a:off x="-138545" y="770709"/>
            <a:ext cx="7048392" cy="5762066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 b="1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A679F6F-596A-65EE-586D-C87E8B36E23E}"/>
              </a:ext>
            </a:extLst>
          </p:cNvPr>
          <p:cNvSpPr txBox="1"/>
          <p:nvPr/>
        </p:nvSpPr>
        <p:spPr>
          <a:xfrm>
            <a:off x="1526465" y="1097253"/>
            <a:ext cx="371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Esclusas sobre tipo de tareas en las que aplicar las </a:t>
            </a:r>
            <a:r>
              <a:rPr lang="es-ES" b="1" dirty="0" err="1"/>
              <a:t>IAs</a:t>
            </a:r>
            <a:endParaRPr lang="es-ES" b="1" dirty="0"/>
          </a:p>
        </p:txBody>
      </p:sp>
      <p:pic>
        <p:nvPicPr>
          <p:cNvPr id="1028" name="Picture 4" descr="Las plaga de las 'red flags' en las redes sociales">
            <a:extLst>
              <a:ext uri="{FF2B5EF4-FFF2-40B4-BE49-F238E27FC236}">
                <a16:creationId xmlns:a16="http://schemas.microsoft.com/office/drawing/2014/main" id="{40600FF5-BC2F-4C3F-A7A5-B5483EBB72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60"/>
          <a:stretch/>
        </p:blipFill>
        <p:spPr bwMode="auto">
          <a:xfrm rot="19091873">
            <a:off x="323351" y="3255816"/>
            <a:ext cx="3062257" cy="2074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3A5F734-0EF4-A904-712C-AECC82203CB3}"/>
              </a:ext>
            </a:extLst>
          </p:cNvPr>
          <p:cNvSpPr txBox="1"/>
          <p:nvPr/>
        </p:nvSpPr>
        <p:spPr>
          <a:xfrm>
            <a:off x="763945" y="2303530"/>
            <a:ext cx="524341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500" b="1" dirty="0">
                <a:solidFill>
                  <a:schemeClr val="tx1"/>
                </a:solidFill>
              </a:rPr>
              <a:t>Creación de contenido si sustituye el aprendizaje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01C765B-5E42-6C52-1A97-4732AF9CA539}"/>
              </a:ext>
            </a:extLst>
          </p:cNvPr>
          <p:cNvSpPr txBox="1"/>
          <p:nvPr/>
        </p:nvSpPr>
        <p:spPr>
          <a:xfrm>
            <a:off x="3040980" y="3531385"/>
            <a:ext cx="366542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500" b="1" dirty="0">
                <a:solidFill>
                  <a:schemeClr val="tx1"/>
                </a:solidFill>
              </a:rPr>
              <a:t>Cuestiones personales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AE6EB44-8507-936F-6C3B-AB8855028124}"/>
              </a:ext>
            </a:extLst>
          </p:cNvPr>
          <p:cNvSpPr txBox="1"/>
          <p:nvPr/>
        </p:nvSpPr>
        <p:spPr>
          <a:xfrm>
            <a:off x="1736818" y="4655302"/>
            <a:ext cx="472822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500" b="1" dirty="0">
                <a:solidFill>
                  <a:schemeClr val="tx1"/>
                </a:solidFill>
              </a:rPr>
              <a:t>Habilidades que podrías perder</a:t>
            </a:r>
          </a:p>
        </p:txBody>
      </p:sp>
    </p:spTree>
    <p:extLst>
      <p:ext uri="{BB962C8B-B14F-4D97-AF65-F5344CB8AC3E}">
        <p14:creationId xmlns:p14="http://schemas.microsoft.com/office/powerpoint/2010/main" val="1394801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3" grpId="0"/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7C0A-9E14-9D16-F776-D34F429C1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68DE10BC-4356-2FB5-716A-1B64A8CE50ED}"/>
              </a:ext>
            </a:extLst>
          </p:cNvPr>
          <p:cNvSpPr/>
          <p:nvPr/>
        </p:nvSpPr>
        <p:spPr>
          <a:xfrm>
            <a:off x="0" y="0"/>
            <a:ext cx="9906000" cy="77070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68432D2-EA70-02E8-1A1E-91AF7C647F0A}"/>
              </a:ext>
            </a:extLst>
          </p:cNvPr>
          <p:cNvSpPr txBox="1"/>
          <p:nvPr/>
        </p:nvSpPr>
        <p:spPr>
          <a:xfrm>
            <a:off x="364013" y="133764"/>
            <a:ext cx="2419830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300" b="1" dirty="0">
                <a:solidFill>
                  <a:schemeClr val="bg1"/>
                </a:solidFill>
              </a:rPr>
              <a:t>CONCLUSIONES</a:t>
            </a:r>
          </a:p>
        </p:txBody>
      </p:sp>
      <p:pic>
        <p:nvPicPr>
          <p:cNvPr id="37" name="Picture 2" descr="r/shittymoviedetails - In the film Forrest Gump (1994) the character Forrest compares life to a box of chocolates. This is in reference to the fact that the character is a fucking idiot.">
            <a:extLst>
              <a:ext uri="{FF2B5EF4-FFF2-40B4-BE49-F238E27FC236}">
                <a16:creationId xmlns:a16="http://schemas.microsoft.com/office/drawing/2014/main" id="{5C418611-559D-BDA7-C6DB-52153CC8DA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6" r="8648"/>
          <a:stretch/>
        </p:blipFill>
        <p:spPr bwMode="auto">
          <a:xfrm>
            <a:off x="21770" y="755651"/>
            <a:ext cx="9884230" cy="610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Llamada ovalada 37">
            <a:extLst>
              <a:ext uri="{FF2B5EF4-FFF2-40B4-BE49-F238E27FC236}">
                <a16:creationId xmlns:a16="http://schemas.microsoft.com/office/drawing/2014/main" id="{2EDF5C61-2BA3-AD59-5ED1-D2981C2C445E}"/>
              </a:ext>
            </a:extLst>
          </p:cNvPr>
          <p:cNvSpPr/>
          <p:nvPr/>
        </p:nvSpPr>
        <p:spPr>
          <a:xfrm>
            <a:off x="-138545" y="770709"/>
            <a:ext cx="7048392" cy="5762066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800" b="1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017143F-A26C-102D-59A0-9B5BCD431801}"/>
              </a:ext>
            </a:extLst>
          </p:cNvPr>
          <p:cNvSpPr txBox="1"/>
          <p:nvPr/>
        </p:nvSpPr>
        <p:spPr>
          <a:xfrm>
            <a:off x="1526465" y="1097253"/>
            <a:ext cx="3718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Esclusas sobre tipo de tareas en las que aplicar las </a:t>
            </a:r>
            <a:r>
              <a:rPr lang="es-ES" b="1" dirty="0" err="1"/>
              <a:t>IAs</a:t>
            </a:r>
            <a:endParaRPr lang="es-E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03E66F-5AF2-91AC-A70C-BC7FE201F9FA}"/>
              </a:ext>
            </a:extLst>
          </p:cNvPr>
          <p:cNvSpPr txBox="1"/>
          <p:nvPr/>
        </p:nvSpPr>
        <p:spPr>
          <a:xfrm>
            <a:off x="3385651" y="3329506"/>
            <a:ext cx="243197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500" b="1" dirty="0">
                <a:solidFill>
                  <a:schemeClr val="tx1"/>
                </a:solidFill>
              </a:rPr>
              <a:t>Tareas simples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0060839-D913-DD17-B83B-60E9D226C6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89" t="20971" r="17440"/>
          <a:stretch/>
        </p:blipFill>
        <p:spPr>
          <a:xfrm>
            <a:off x="864358" y="2554552"/>
            <a:ext cx="2246005" cy="314881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592FF6F4-DAE8-E284-5195-B296972EAD27}"/>
              </a:ext>
            </a:extLst>
          </p:cNvPr>
          <p:cNvSpPr txBox="1"/>
          <p:nvPr/>
        </p:nvSpPr>
        <p:spPr>
          <a:xfrm>
            <a:off x="763945" y="2115272"/>
            <a:ext cx="57011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500" b="1" dirty="0">
                <a:solidFill>
                  <a:schemeClr val="tx1"/>
                </a:solidFill>
              </a:rPr>
              <a:t>Tareas mecánicas que no te aportan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FDC9CC-123E-9193-79BC-999F8DD182E8}"/>
              </a:ext>
            </a:extLst>
          </p:cNvPr>
          <p:cNvSpPr txBox="1"/>
          <p:nvPr/>
        </p:nvSpPr>
        <p:spPr>
          <a:xfrm>
            <a:off x="1844395" y="4305213"/>
            <a:ext cx="472822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500" b="1" dirty="0">
                <a:solidFill>
                  <a:schemeClr val="tx1"/>
                </a:solidFill>
              </a:rPr>
              <a:t>Aprender nuevas destrezas</a:t>
            </a:r>
          </a:p>
        </p:txBody>
      </p:sp>
    </p:spTree>
    <p:extLst>
      <p:ext uri="{BB962C8B-B14F-4D97-AF65-F5344CB8AC3E}">
        <p14:creationId xmlns:p14="http://schemas.microsoft.com/office/powerpoint/2010/main" val="5573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Mujer parada junto a un cuerpo de agua&#10;&#10;Descripción generada automáticamente">
            <a:extLst>
              <a:ext uri="{FF2B5EF4-FFF2-40B4-BE49-F238E27FC236}">
                <a16:creationId xmlns:a16="http://schemas.microsoft.com/office/drawing/2014/main" id="{A0AD34E1-F73D-16CD-0A6C-EEA844395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97"/>
            <a:ext cx="9906000" cy="6745803"/>
          </a:xfrm>
          <a:prstGeom prst="rect">
            <a:avLst/>
          </a:prstGeom>
        </p:spPr>
      </p:pic>
      <p:sp>
        <p:nvSpPr>
          <p:cNvPr id="5" name="Llamada ovalada 4">
            <a:extLst>
              <a:ext uri="{FF2B5EF4-FFF2-40B4-BE49-F238E27FC236}">
                <a16:creationId xmlns:a16="http://schemas.microsoft.com/office/drawing/2014/main" id="{5A40B7F6-B97B-56B5-45D2-5F50284CE50A}"/>
              </a:ext>
            </a:extLst>
          </p:cNvPr>
          <p:cNvSpPr/>
          <p:nvPr/>
        </p:nvSpPr>
        <p:spPr>
          <a:xfrm>
            <a:off x="544749" y="1738493"/>
            <a:ext cx="3485710" cy="2716775"/>
          </a:xfrm>
          <a:prstGeom prst="wedgeEllipseCallout">
            <a:avLst>
              <a:gd name="adj1" fmla="val 53628"/>
              <a:gd name="adj2" fmla="val -24063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b="1" dirty="0">
                <a:solidFill>
                  <a:schemeClr val="tx1"/>
                </a:solidFill>
              </a:rPr>
              <a:t>¿Alguna pregunta, sugerencia, enmienda, propuesta?</a:t>
            </a:r>
          </a:p>
        </p:txBody>
      </p:sp>
    </p:spTree>
    <p:extLst>
      <p:ext uri="{BB962C8B-B14F-4D97-AF65-F5344CB8AC3E}">
        <p14:creationId xmlns:p14="http://schemas.microsoft.com/office/powerpoint/2010/main" val="3071130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728</TotalTime>
  <Words>568</Words>
  <Application>Microsoft Macintosh PowerPoint</Application>
  <PresentationFormat>A4 (210 x 297 mm)</PresentationFormat>
  <Paragraphs>96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Open Sans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Javier Bonet García</dc:creator>
  <cp:lastModifiedBy>Francisco Javier Bonet García</cp:lastModifiedBy>
  <cp:revision>56</cp:revision>
  <cp:lastPrinted>2026-09-22T17:43:46Z</cp:lastPrinted>
  <dcterms:created xsi:type="dcterms:W3CDTF">2026-09-22T17:26:49Z</dcterms:created>
  <dcterms:modified xsi:type="dcterms:W3CDTF">2026-10-08T07:10:01Z</dcterms:modified>
</cp:coreProperties>
</file>